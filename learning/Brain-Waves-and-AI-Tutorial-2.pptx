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Tutorial #2. Last time we trained a tiny AI on brain signals. Today we zoom in on ONE thing: the shape of the data — 576 clips x 22 channels x 1125 samples, at 250 Hz, 4.5 seconds per clip. It looks scary; it's really just multiplication. We'll build every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for the deck. The whole dataset is one line of numbers. To understand it, answer four questions: how fast we sample, how long each clip is, how many sensors, and how many clips. Each is one slide, each is simple multiplication.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Piece 1: sampling rate. 250 Hz means 250 measurements per second. 1000 milliseconds divided by 250 = 4 ms between snapshots — that's the '4 ms per sample' you see in the app. Camera analogy: fast enough snapshots look like smooth 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Piece 2: clip length. A clip runs from 0.5 s before the cue to 4.0 s after = 4.5 seconds. Length times speed: 4.5 s x 250 samples/s = 1125 samples. That is the 1125 in the shape — the number of time-steps in one clip.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Piece 3: channels. 22 electrodes on the scalp = 22 channels. At each time-step you don't get one voltage, you get 22 — one per sensor. That is the 22 in the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 pieces 1-3: one clip is a grid, 22 channels tall by 1125 samples wide. 22 x 1125 = 24,750 numbers in a single clip. This is exactly the table the web app shows in 'View the windows'.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Piece 4: how many clips. 4 movements, each imagined 72 times = 288 clips in one session. Recorded across 2 days = 288 x 2 = 576 clips total for one person. That's the 576.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all 576 clips: a 3-D box (a tensor) shaped 576 x 22 x 1125. Multiply: that's 14,256,000 numbers — over 14 million — for one subject. The box is X; the 576 labels are y. Same X/y idea as Tutorial #1, just much bigger.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every number in 576 x 22 x 1125 came from simple counting and multiplication — speed, length, sensors, and how many clips. Then send them to the app's Tutorial #2 and click 'View the windows' to see the real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3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rainWerks-/learning/deck-src/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user/BrainWerks-/learning/deck-src/assets/wave_cyan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4160520"/>
            <a:ext cx="12188952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66928" y="685800"/>
            <a:ext cx="1051560" cy="1051560"/>
          </a:xfrm>
          <a:prstGeom prst="ellipse">
            <a:avLst/>
          </a:prstGeom>
          <a:solidFill>
            <a:srgbClr val="2DD4BF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5" name="Image 2" descr="/home/user/BrainWerks-/learning/deck-src/assets/targ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49" y="969721"/>
            <a:ext cx="483718" cy="48371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801368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WAVES  ×  ARTIFICIAL INTELLIGENCE  ·  TUTORIAL #2</a:t>
            </a:r>
            <a:endParaRPr lang="en-US" sz="1300" dirty="0"/>
          </a:p>
        </p:txBody>
      </p:sp>
      <p:sp>
        <p:nvSpPr>
          <p:cNvPr id="7" name="Text 2"/>
          <p:cNvSpPr/>
          <p:nvPr/>
        </p:nvSpPr>
        <p:spPr>
          <a:xfrm>
            <a:off x="566928" y="19659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of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 Data</a:t>
            </a:r>
            <a:endParaRPr lang="en-US" sz="6000" dirty="0"/>
          </a:p>
        </p:txBody>
      </p:sp>
      <p:sp>
        <p:nvSpPr>
          <p:cNvPr id="8" name="Text 3"/>
          <p:cNvSpPr/>
          <p:nvPr/>
        </p:nvSpPr>
        <p:spPr>
          <a:xfrm>
            <a:off x="566928" y="43434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a number like  576 × 22 × 1125  come from? Let's build it up, one piece at a time.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566928" y="5943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lesson built from </a:t>
            </a:r>
            <a:pPr indent="0" marL="0">
              <a:buNone/>
            </a:pPr>
            <a:r>
              <a:rPr lang="en-US" sz="14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braindecode</a:t>
            </a:r>
            <a:pPr indent="0" marL="0">
              <a:buNone/>
            </a:pPr>
            <a:r>
              <a:rPr lang="en-US" sz="1400" dirty="0">
                <a:solidFill>
                  <a:srgbClr val="B9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BCI Competition IV 2a dataset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WE'RE DECODING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one line describes the whole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1051560"/>
          </a:xfrm>
          <a:prstGeom prst="roundRect">
            <a:avLst>
              <a:gd name="adj" fmla="val 9565"/>
            </a:avLst>
          </a:prstGeom>
          <a:solidFill>
            <a:srgbClr val="241356"/>
          </a:solidFill>
          <a:ln w="12700">
            <a:solidFill>
              <a:srgbClr val="241356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9751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576</a:t>
            </a:r>
            <a:pPr algn="ctr" indent="0" marL="0">
              <a:buNone/>
            </a:pPr>
            <a:r>
              <a:rPr lang="en-US" sz="2600" b="1" dirty="0">
                <a:solidFill>
                  <a:srgbClr val="CF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clips  ×  </a:t>
            </a:r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pPr algn="ctr" indent="0" marL="0">
              <a:buNone/>
            </a:pPr>
            <a:r>
              <a:rPr lang="en-US" sz="2600" b="1" dirty="0">
                <a:solidFill>
                  <a:srgbClr val="CF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channels  ×  </a:t>
            </a:r>
            <a:pPr algn="ctr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1125</a:t>
            </a:r>
            <a:pPr algn="ctr" indent="0" marL="0">
              <a:buNone/>
            </a:pPr>
            <a:r>
              <a:rPr lang="en-US" sz="2600" b="1" dirty="0">
                <a:solidFill>
                  <a:srgbClr val="CF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samples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24323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 Hz   ·   4.50 seconds per clip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3063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 unlock it: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6928" y="3566160"/>
            <a:ext cx="2688336" cy="2468880"/>
          </a:xfrm>
          <a:prstGeom prst="roundRect">
            <a:avLst>
              <a:gd name="adj" fmla="val 4074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08176" y="3749040"/>
            <a:ext cx="1005840" cy="100584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0" name="Image 0" descr="/home/user/BrainWerks-/learning/deck-src/assets/cloc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9753" y="4020617"/>
            <a:ext cx="462686" cy="46268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480060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FAST?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4088" y="5212080"/>
            <a:ext cx="2414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snapshots every second (250 Hz).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74136" y="3566160"/>
            <a:ext cx="2688336" cy="2468880"/>
          </a:xfrm>
          <a:prstGeom prst="roundRect">
            <a:avLst>
              <a:gd name="adj" fmla="val 4074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15384" y="3749040"/>
            <a:ext cx="1005840" cy="100584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5" name="Image 1" descr="/home/user/BrainWerks-/learning/deck-src/assets/rule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961" y="4020617"/>
            <a:ext cx="462686" cy="46268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74136" y="480060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LONG?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511296" y="5212080"/>
            <a:ext cx="2414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s per clip → 1125 samples.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181344" y="3566160"/>
            <a:ext cx="2688336" cy="2468880"/>
          </a:xfrm>
          <a:prstGeom prst="roundRect">
            <a:avLst>
              <a:gd name="adj" fmla="val 4074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022592" y="3749040"/>
            <a:ext cx="1005840" cy="1005840"/>
          </a:xfrm>
          <a:prstGeom prst="ellipse">
            <a:avLst/>
          </a:prstGeom>
          <a:solidFill>
            <a:srgbClr val="2DD4BF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20" name="Image 2" descr="/home/user/BrainWerks-/learning/deck-src/assets/column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169" y="4020617"/>
            <a:ext cx="462686" cy="46268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81344" y="480060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sensors?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318504" y="5212080"/>
            <a:ext cx="2414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electrodes = 22 channels.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988552" y="3566160"/>
            <a:ext cx="2688336" cy="2468880"/>
          </a:xfrm>
          <a:prstGeom prst="roundRect">
            <a:avLst>
              <a:gd name="adj" fmla="val 4074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829800" y="3749040"/>
            <a:ext cx="1005840" cy="1005840"/>
          </a:xfrm>
          <a:prstGeom prst="ellipse">
            <a:avLst/>
          </a:prstGeom>
          <a:solidFill>
            <a:srgbClr val="FB7185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25" name="Image 3" descr="/home/user/BrainWerks-/learning/deck-src/assets/cu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1377" y="4020617"/>
            <a:ext cx="462686" cy="46268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88552" y="480060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clips?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125712" y="5212080"/>
            <a:ext cx="2414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 labeled trials in total.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 1 · HOW FAST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 Hz = 250 snapshots</a:t>
            </a:r>
            <a:endParaRPr lang="en-US" sz="3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second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514600"/>
            <a:ext cx="6126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EEG doesn't record a smooth line — it takes super-fast snapshots of the voltage, over and over.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'Hz' (hertz) means 'times per second'. 250 Hz = 250 snapshots each second.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movie camera: enough snapshots per second and it looks like smooth motion.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40880" y="1874520"/>
            <a:ext cx="4617720" cy="4160520"/>
          </a:xfrm>
          <a:prstGeom prst="roundRect">
            <a:avLst>
              <a:gd name="adj" fmla="val 2418"/>
            </a:avLst>
          </a:prstGeom>
          <a:solidFill>
            <a:srgbClr val="241356"/>
          </a:solidFill>
          <a:ln w="12700">
            <a:solidFill>
              <a:srgbClr val="241356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32520" y="2331720"/>
            <a:ext cx="1234440" cy="123444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7" name="Image 0" descr="/home/user/BrainWerks-/learning/deck-src/assets/cloc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5819" y="2665019"/>
            <a:ext cx="567842" cy="567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23760" y="37947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second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23760" y="41148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250 snapshots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223760" y="48006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one snapshot every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223760" y="51206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milliseconds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66928" y="5897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 ms </a:t>
            </a:r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÷ </a:t>
            </a:r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 </a:t>
            </a:r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algn="ctr"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ms</a:t>
            </a:r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between snapshots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 2 · HOW LONG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clip is 4.5 seconds long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126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feed the AI the whole recording — we cut it into short clips, one per 'imagine a movement' moment.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clip starts 0.5 s before the go-cue and lasts to 4.0 s after it: that's 4.5 seconds.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snapshots is that? Multiply the length by the speed.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1737360"/>
            <a:ext cx="4617720" cy="2514600"/>
          </a:xfrm>
          <a:prstGeom prst="roundRect">
            <a:avLst>
              <a:gd name="adj" fmla="val 4000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32520" y="1965960"/>
            <a:ext cx="1051560" cy="105156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7" name="Image 0" descr="/home/user/BrainWerks-/learning/deck-src/assets/rule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441" y="2249881"/>
            <a:ext cx="483718" cy="4837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23760" y="30632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23760" y="340156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4.50 seconds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66928" y="4617720"/>
            <a:ext cx="11064240" cy="1051560"/>
          </a:xfrm>
          <a:prstGeom prst="roundRect">
            <a:avLst>
              <a:gd name="adj" fmla="val 9565"/>
            </a:avLst>
          </a:prstGeom>
          <a:solidFill>
            <a:srgbClr val="241356"/>
          </a:solidFill>
          <a:ln w="12700">
            <a:solidFill>
              <a:srgbClr val="241356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6928" y="48188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 s </a:t>
            </a:r>
            <a:pPr algn="ctr" indent="0" marL="0">
              <a:buNone/>
            </a:pPr>
            <a:r>
              <a:rPr lang="en-US" sz="2400" b="1" dirty="0">
                <a:solidFill>
                  <a:srgbClr val="CF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</a:t>
            </a:r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 samples/s </a:t>
            </a:r>
            <a:pPr algn="ctr" indent="0" marL="0">
              <a:buNone/>
            </a:pPr>
            <a:r>
              <a:rPr lang="en-US" sz="2400" b="1" dirty="0">
                <a:solidFill>
                  <a:srgbClr val="CF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1125 samples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66928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why every clip is 1125 samples 'tall' in time.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 3 · HOW MANY SENSORS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channels = 22 sensors</a:t>
            </a:r>
            <a:endParaRPr lang="en-US" sz="3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listening at once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514600"/>
            <a:ext cx="6126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EEG cap in this dataset has 22 electrodes over the parts of the brain that plan movement.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electrode is one 'channel' — its own stream of snapshots.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at every moment in time, we don't get one number — we get 22, one per sensor.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995160" y="1874520"/>
            <a:ext cx="4663440" cy="3977640"/>
          </a:xfrm>
          <a:prstGeom prst="roundRect">
            <a:avLst>
              <a:gd name="adj" fmla="val 2529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32520" y="2286000"/>
            <a:ext cx="1188720" cy="1188720"/>
          </a:xfrm>
          <a:prstGeom prst="ellipse">
            <a:avLst/>
          </a:prstGeom>
          <a:solidFill>
            <a:srgbClr val="2DD4BF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7" name="Image 0" descr="/home/user/BrainWerks-/learning/deck-src/assets/column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3474" y="2606954"/>
            <a:ext cx="546811" cy="5468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78040" y="36576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sensors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269480" y="41605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22 rows of numbers, all recorded at the same time.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PIECES 1–3 TOGETHER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clip is a grid of numbers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channels going down  ×  1125 time-snapshots going across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658368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33172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233172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8" name="Shape 6"/>
          <p:cNvSpPr/>
          <p:nvPr/>
        </p:nvSpPr>
        <p:spPr>
          <a:xfrm>
            <a:off x="1389888" y="233172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9" name="Shape 7"/>
          <p:cNvSpPr/>
          <p:nvPr/>
        </p:nvSpPr>
        <p:spPr>
          <a:xfrm>
            <a:off x="1801368" y="233172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10" name="Shape 8"/>
          <p:cNvSpPr/>
          <p:nvPr/>
        </p:nvSpPr>
        <p:spPr>
          <a:xfrm>
            <a:off x="2212848" y="233172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11" name="Shape 9"/>
          <p:cNvSpPr/>
          <p:nvPr/>
        </p:nvSpPr>
        <p:spPr>
          <a:xfrm>
            <a:off x="2624328" y="233172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035808" y="233172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447288" y="233172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14" name="Shape 12"/>
          <p:cNvSpPr/>
          <p:nvPr/>
        </p:nvSpPr>
        <p:spPr>
          <a:xfrm>
            <a:off x="3858768" y="233172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15" name="Shape 13"/>
          <p:cNvSpPr/>
          <p:nvPr/>
        </p:nvSpPr>
        <p:spPr>
          <a:xfrm>
            <a:off x="4270248" y="233172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16" name="Shape 14"/>
          <p:cNvSpPr/>
          <p:nvPr/>
        </p:nvSpPr>
        <p:spPr>
          <a:xfrm>
            <a:off x="4681728" y="233172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093208" y="233172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5504688" y="233172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19" name="Shape 17"/>
          <p:cNvSpPr/>
          <p:nvPr/>
        </p:nvSpPr>
        <p:spPr>
          <a:xfrm>
            <a:off x="5916168" y="233172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20" name="Shape 18"/>
          <p:cNvSpPr/>
          <p:nvPr/>
        </p:nvSpPr>
        <p:spPr>
          <a:xfrm>
            <a:off x="6327648" y="233172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21" name="Shape 19"/>
          <p:cNvSpPr/>
          <p:nvPr/>
        </p:nvSpPr>
        <p:spPr>
          <a:xfrm>
            <a:off x="6739128" y="233172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" y="273177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23" name="Shape 21"/>
          <p:cNvSpPr/>
          <p:nvPr/>
        </p:nvSpPr>
        <p:spPr>
          <a:xfrm>
            <a:off x="978408" y="273177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24" name="Shape 22"/>
          <p:cNvSpPr/>
          <p:nvPr/>
        </p:nvSpPr>
        <p:spPr>
          <a:xfrm>
            <a:off x="1389888" y="273177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25" name="Shape 23"/>
          <p:cNvSpPr/>
          <p:nvPr/>
        </p:nvSpPr>
        <p:spPr>
          <a:xfrm>
            <a:off x="1801368" y="273177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26" name="Shape 24"/>
          <p:cNvSpPr/>
          <p:nvPr/>
        </p:nvSpPr>
        <p:spPr>
          <a:xfrm>
            <a:off x="2212848" y="273177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27" name="Shape 25"/>
          <p:cNvSpPr/>
          <p:nvPr/>
        </p:nvSpPr>
        <p:spPr>
          <a:xfrm>
            <a:off x="2624328" y="273177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28" name="Shape 26"/>
          <p:cNvSpPr/>
          <p:nvPr/>
        </p:nvSpPr>
        <p:spPr>
          <a:xfrm>
            <a:off x="3035808" y="273177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29" name="Shape 27"/>
          <p:cNvSpPr/>
          <p:nvPr/>
        </p:nvSpPr>
        <p:spPr>
          <a:xfrm>
            <a:off x="3447288" y="273177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30" name="Shape 28"/>
          <p:cNvSpPr/>
          <p:nvPr/>
        </p:nvSpPr>
        <p:spPr>
          <a:xfrm>
            <a:off x="3858768" y="273177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31" name="Shape 29"/>
          <p:cNvSpPr/>
          <p:nvPr/>
        </p:nvSpPr>
        <p:spPr>
          <a:xfrm>
            <a:off x="4270248" y="273177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32" name="Shape 30"/>
          <p:cNvSpPr/>
          <p:nvPr/>
        </p:nvSpPr>
        <p:spPr>
          <a:xfrm>
            <a:off x="4681728" y="273177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33" name="Shape 31"/>
          <p:cNvSpPr/>
          <p:nvPr/>
        </p:nvSpPr>
        <p:spPr>
          <a:xfrm>
            <a:off x="5093208" y="273177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34" name="Shape 32"/>
          <p:cNvSpPr/>
          <p:nvPr/>
        </p:nvSpPr>
        <p:spPr>
          <a:xfrm>
            <a:off x="5504688" y="273177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35" name="Shape 33"/>
          <p:cNvSpPr/>
          <p:nvPr/>
        </p:nvSpPr>
        <p:spPr>
          <a:xfrm>
            <a:off x="5916168" y="273177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36" name="Shape 34"/>
          <p:cNvSpPr/>
          <p:nvPr/>
        </p:nvSpPr>
        <p:spPr>
          <a:xfrm>
            <a:off x="6327648" y="273177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37" name="Shape 35"/>
          <p:cNvSpPr/>
          <p:nvPr/>
        </p:nvSpPr>
        <p:spPr>
          <a:xfrm>
            <a:off x="6739128" y="273177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38" name="Shape 36"/>
          <p:cNvSpPr/>
          <p:nvPr/>
        </p:nvSpPr>
        <p:spPr>
          <a:xfrm>
            <a:off x="566928" y="313182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39" name="Shape 37"/>
          <p:cNvSpPr/>
          <p:nvPr/>
        </p:nvSpPr>
        <p:spPr>
          <a:xfrm>
            <a:off x="978408" y="313182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40" name="Shape 38"/>
          <p:cNvSpPr/>
          <p:nvPr/>
        </p:nvSpPr>
        <p:spPr>
          <a:xfrm>
            <a:off x="1389888" y="313182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41" name="Shape 39"/>
          <p:cNvSpPr/>
          <p:nvPr/>
        </p:nvSpPr>
        <p:spPr>
          <a:xfrm>
            <a:off x="1801368" y="313182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42" name="Shape 40"/>
          <p:cNvSpPr/>
          <p:nvPr/>
        </p:nvSpPr>
        <p:spPr>
          <a:xfrm>
            <a:off x="2212848" y="313182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43" name="Shape 41"/>
          <p:cNvSpPr/>
          <p:nvPr/>
        </p:nvSpPr>
        <p:spPr>
          <a:xfrm>
            <a:off x="2624328" y="313182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44" name="Shape 42"/>
          <p:cNvSpPr/>
          <p:nvPr/>
        </p:nvSpPr>
        <p:spPr>
          <a:xfrm>
            <a:off x="3035808" y="313182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45" name="Shape 43"/>
          <p:cNvSpPr/>
          <p:nvPr/>
        </p:nvSpPr>
        <p:spPr>
          <a:xfrm>
            <a:off x="3447288" y="313182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46" name="Shape 44"/>
          <p:cNvSpPr/>
          <p:nvPr/>
        </p:nvSpPr>
        <p:spPr>
          <a:xfrm>
            <a:off x="3858768" y="313182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47" name="Shape 45"/>
          <p:cNvSpPr/>
          <p:nvPr/>
        </p:nvSpPr>
        <p:spPr>
          <a:xfrm>
            <a:off x="4270248" y="313182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48" name="Shape 46"/>
          <p:cNvSpPr/>
          <p:nvPr/>
        </p:nvSpPr>
        <p:spPr>
          <a:xfrm>
            <a:off x="4681728" y="313182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49" name="Shape 47"/>
          <p:cNvSpPr/>
          <p:nvPr/>
        </p:nvSpPr>
        <p:spPr>
          <a:xfrm>
            <a:off x="5093208" y="313182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50" name="Shape 48"/>
          <p:cNvSpPr/>
          <p:nvPr/>
        </p:nvSpPr>
        <p:spPr>
          <a:xfrm>
            <a:off x="5504688" y="313182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51" name="Shape 49"/>
          <p:cNvSpPr/>
          <p:nvPr/>
        </p:nvSpPr>
        <p:spPr>
          <a:xfrm>
            <a:off x="5916168" y="313182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52" name="Shape 50"/>
          <p:cNvSpPr/>
          <p:nvPr/>
        </p:nvSpPr>
        <p:spPr>
          <a:xfrm>
            <a:off x="6327648" y="313182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53" name="Shape 51"/>
          <p:cNvSpPr/>
          <p:nvPr/>
        </p:nvSpPr>
        <p:spPr>
          <a:xfrm>
            <a:off x="6739128" y="313182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54" name="Shape 52"/>
          <p:cNvSpPr/>
          <p:nvPr/>
        </p:nvSpPr>
        <p:spPr>
          <a:xfrm>
            <a:off x="566928" y="353187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55" name="Shape 53"/>
          <p:cNvSpPr/>
          <p:nvPr/>
        </p:nvSpPr>
        <p:spPr>
          <a:xfrm>
            <a:off x="978408" y="353187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56" name="Shape 54"/>
          <p:cNvSpPr/>
          <p:nvPr/>
        </p:nvSpPr>
        <p:spPr>
          <a:xfrm>
            <a:off x="1389888" y="353187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57" name="Shape 55"/>
          <p:cNvSpPr/>
          <p:nvPr/>
        </p:nvSpPr>
        <p:spPr>
          <a:xfrm>
            <a:off x="1801368" y="353187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58" name="Shape 56"/>
          <p:cNvSpPr/>
          <p:nvPr/>
        </p:nvSpPr>
        <p:spPr>
          <a:xfrm>
            <a:off x="2212848" y="353187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59" name="Shape 57"/>
          <p:cNvSpPr/>
          <p:nvPr/>
        </p:nvSpPr>
        <p:spPr>
          <a:xfrm>
            <a:off x="2624328" y="353187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60" name="Shape 58"/>
          <p:cNvSpPr/>
          <p:nvPr/>
        </p:nvSpPr>
        <p:spPr>
          <a:xfrm>
            <a:off x="3035808" y="353187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61" name="Shape 59"/>
          <p:cNvSpPr/>
          <p:nvPr/>
        </p:nvSpPr>
        <p:spPr>
          <a:xfrm>
            <a:off x="3447288" y="353187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62" name="Shape 60"/>
          <p:cNvSpPr/>
          <p:nvPr/>
        </p:nvSpPr>
        <p:spPr>
          <a:xfrm>
            <a:off x="3858768" y="353187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63" name="Shape 61"/>
          <p:cNvSpPr/>
          <p:nvPr/>
        </p:nvSpPr>
        <p:spPr>
          <a:xfrm>
            <a:off x="4270248" y="353187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64" name="Shape 62"/>
          <p:cNvSpPr/>
          <p:nvPr/>
        </p:nvSpPr>
        <p:spPr>
          <a:xfrm>
            <a:off x="4681728" y="353187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65" name="Shape 63"/>
          <p:cNvSpPr/>
          <p:nvPr/>
        </p:nvSpPr>
        <p:spPr>
          <a:xfrm>
            <a:off x="5093208" y="353187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66" name="Shape 64"/>
          <p:cNvSpPr/>
          <p:nvPr/>
        </p:nvSpPr>
        <p:spPr>
          <a:xfrm>
            <a:off x="5504688" y="353187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67" name="Shape 65"/>
          <p:cNvSpPr/>
          <p:nvPr/>
        </p:nvSpPr>
        <p:spPr>
          <a:xfrm>
            <a:off x="5916168" y="353187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68" name="Shape 66"/>
          <p:cNvSpPr/>
          <p:nvPr/>
        </p:nvSpPr>
        <p:spPr>
          <a:xfrm>
            <a:off x="6327648" y="353187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69" name="Shape 67"/>
          <p:cNvSpPr/>
          <p:nvPr/>
        </p:nvSpPr>
        <p:spPr>
          <a:xfrm>
            <a:off x="6739128" y="353187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70" name="Shape 68"/>
          <p:cNvSpPr/>
          <p:nvPr/>
        </p:nvSpPr>
        <p:spPr>
          <a:xfrm>
            <a:off x="566928" y="393192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71" name="Shape 69"/>
          <p:cNvSpPr/>
          <p:nvPr/>
        </p:nvSpPr>
        <p:spPr>
          <a:xfrm>
            <a:off x="978408" y="393192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72" name="Shape 70"/>
          <p:cNvSpPr/>
          <p:nvPr/>
        </p:nvSpPr>
        <p:spPr>
          <a:xfrm>
            <a:off x="1389888" y="393192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73" name="Shape 71"/>
          <p:cNvSpPr/>
          <p:nvPr/>
        </p:nvSpPr>
        <p:spPr>
          <a:xfrm>
            <a:off x="1801368" y="393192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74" name="Shape 72"/>
          <p:cNvSpPr/>
          <p:nvPr/>
        </p:nvSpPr>
        <p:spPr>
          <a:xfrm>
            <a:off x="2212848" y="393192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75" name="Shape 73"/>
          <p:cNvSpPr/>
          <p:nvPr/>
        </p:nvSpPr>
        <p:spPr>
          <a:xfrm>
            <a:off x="2624328" y="393192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76" name="Shape 74"/>
          <p:cNvSpPr/>
          <p:nvPr/>
        </p:nvSpPr>
        <p:spPr>
          <a:xfrm>
            <a:off x="3035808" y="393192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77" name="Shape 75"/>
          <p:cNvSpPr/>
          <p:nvPr/>
        </p:nvSpPr>
        <p:spPr>
          <a:xfrm>
            <a:off x="3447288" y="393192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78" name="Shape 76"/>
          <p:cNvSpPr/>
          <p:nvPr/>
        </p:nvSpPr>
        <p:spPr>
          <a:xfrm>
            <a:off x="3858768" y="393192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79" name="Shape 77"/>
          <p:cNvSpPr/>
          <p:nvPr/>
        </p:nvSpPr>
        <p:spPr>
          <a:xfrm>
            <a:off x="4270248" y="393192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80" name="Shape 78"/>
          <p:cNvSpPr/>
          <p:nvPr/>
        </p:nvSpPr>
        <p:spPr>
          <a:xfrm>
            <a:off x="4681728" y="393192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81" name="Shape 79"/>
          <p:cNvSpPr/>
          <p:nvPr/>
        </p:nvSpPr>
        <p:spPr>
          <a:xfrm>
            <a:off x="5093208" y="393192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82" name="Shape 80"/>
          <p:cNvSpPr/>
          <p:nvPr/>
        </p:nvSpPr>
        <p:spPr>
          <a:xfrm>
            <a:off x="5504688" y="393192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83" name="Shape 81"/>
          <p:cNvSpPr/>
          <p:nvPr/>
        </p:nvSpPr>
        <p:spPr>
          <a:xfrm>
            <a:off x="5916168" y="393192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84" name="Shape 82"/>
          <p:cNvSpPr/>
          <p:nvPr/>
        </p:nvSpPr>
        <p:spPr>
          <a:xfrm>
            <a:off x="6327648" y="393192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85" name="Shape 83"/>
          <p:cNvSpPr/>
          <p:nvPr/>
        </p:nvSpPr>
        <p:spPr>
          <a:xfrm>
            <a:off x="6739128" y="393192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86" name="Shape 84"/>
          <p:cNvSpPr/>
          <p:nvPr/>
        </p:nvSpPr>
        <p:spPr>
          <a:xfrm>
            <a:off x="566928" y="433197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87" name="Shape 85"/>
          <p:cNvSpPr/>
          <p:nvPr/>
        </p:nvSpPr>
        <p:spPr>
          <a:xfrm>
            <a:off x="978408" y="433197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88" name="Shape 86"/>
          <p:cNvSpPr/>
          <p:nvPr/>
        </p:nvSpPr>
        <p:spPr>
          <a:xfrm>
            <a:off x="1389888" y="433197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89" name="Shape 87"/>
          <p:cNvSpPr/>
          <p:nvPr/>
        </p:nvSpPr>
        <p:spPr>
          <a:xfrm>
            <a:off x="1801368" y="433197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90" name="Shape 88"/>
          <p:cNvSpPr/>
          <p:nvPr/>
        </p:nvSpPr>
        <p:spPr>
          <a:xfrm>
            <a:off x="2212848" y="433197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91" name="Shape 89"/>
          <p:cNvSpPr/>
          <p:nvPr/>
        </p:nvSpPr>
        <p:spPr>
          <a:xfrm>
            <a:off x="2624328" y="433197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92" name="Shape 90"/>
          <p:cNvSpPr/>
          <p:nvPr/>
        </p:nvSpPr>
        <p:spPr>
          <a:xfrm>
            <a:off x="3035808" y="433197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93" name="Shape 91"/>
          <p:cNvSpPr/>
          <p:nvPr/>
        </p:nvSpPr>
        <p:spPr>
          <a:xfrm>
            <a:off x="3447288" y="433197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94" name="Shape 92"/>
          <p:cNvSpPr/>
          <p:nvPr/>
        </p:nvSpPr>
        <p:spPr>
          <a:xfrm>
            <a:off x="3858768" y="433197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95" name="Shape 93"/>
          <p:cNvSpPr/>
          <p:nvPr/>
        </p:nvSpPr>
        <p:spPr>
          <a:xfrm>
            <a:off x="4270248" y="433197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96" name="Shape 94"/>
          <p:cNvSpPr/>
          <p:nvPr/>
        </p:nvSpPr>
        <p:spPr>
          <a:xfrm>
            <a:off x="4681728" y="433197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97" name="Shape 95"/>
          <p:cNvSpPr/>
          <p:nvPr/>
        </p:nvSpPr>
        <p:spPr>
          <a:xfrm>
            <a:off x="5093208" y="433197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98" name="Shape 96"/>
          <p:cNvSpPr/>
          <p:nvPr/>
        </p:nvSpPr>
        <p:spPr>
          <a:xfrm>
            <a:off x="5504688" y="433197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99" name="Shape 97"/>
          <p:cNvSpPr/>
          <p:nvPr/>
        </p:nvSpPr>
        <p:spPr>
          <a:xfrm>
            <a:off x="5916168" y="433197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100" name="Shape 98"/>
          <p:cNvSpPr/>
          <p:nvPr/>
        </p:nvSpPr>
        <p:spPr>
          <a:xfrm>
            <a:off x="6327648" y="433197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101" name="Shape 99"/>
          <p:cNvSpPr/>
          <p:nvPr/>
        </p:nvSpPr>
        <p:spPr>
          <a:xfrm>
            <a:off x="6739128" y="433197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66928" y="473202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103" name="Shape 101"/>
          <p:cNvSpPr/>
          <p:nvPr/>
        </p:nvSpPr>
        <p:spPr>
          <a:xfrm>
            <a:off x="978408" y="473202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389888" y="473202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801368" y="473202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106" name="Shape 104"/>
          <p:cNvSpPr/>
          <p:nvPr/>
        </p:nvSpPr>
        <p:spPr>
          <a:xfrm>
            <a:off x="2212848" y="473202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2624328" y="473202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108" name="Shape 106"/>
          <p:cNvSpPr/>
          <p:nvPr/>
        </p:nvSpPr>
        <p:spPr>
          <a:xfrm>
            <a:off x="3035808" y="473202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109" name="Shape 107"/>
          <p:cNvSpPr/>
          <p:nvPr/>
        </p:nvSpPr>
        <p:spPr>
          <a:xfrm>
            <a:off x="3447288" y="473202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110" name="Shape 108"/>
          <p:cNvSpPr/>
          <p:nvPr/>
        </p:nvSpPr>
        <p:spPr>
          <a:xfrm>
            <a:off x="3858768" y="473202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111" name="Shape 109"/>
          <p:cNvSpPr/>
          <p:nvPr/>
        </p:nvSpPr>
        <p:spPr>
          <a:xfrm>
            <a:off x="4270248" y="473202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4681728" y="473202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093208" y="473202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504688" y="473202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916168" y="473202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116" name="Shape 114"/>
          <p:cNvSpPr/>
          <p:nvPr/>
        </p:nvSpPr>
        <p:spPr>
          <a:xfrm>
            <a:off x="6327648" y="473202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117" name="Shape 115"/>
          <p:cNvSpPr/>
          <p:nvPr/>
        </p:nvSpPr>
        <p:spPr>
          <a:xfrm>
            <a:off x="6739128" y="473202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66928" y="513207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119" name="Shape 117"/>
          <p:cNvSpPr/>
          <p:nvPr/>
        </p:nvSpPr>
        <p:spPr>
          <a:xfrm>
            <a:off x="978408" y="513207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389888" y="513207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801368" y="513207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122" name="Shape 120"/>
          <p:cNvSpPr/>
          <p:nvPr/>
        </p:nvSpPr>
        <p:spPr>
          <a:xfrm>
            <a:off x="2212848" y="513207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123" name="Shape 121"/>
          <p:cNvSpPr/>
          <p:nvPr/>
        </p:nvSpPr>
        <p:spPr>
          <a:xfrm>
            <a:off x="2624328" y="513207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124" name="Shape 122"/>
          <p:cNvSpPr/>
          <p:nvPr/>
        </p:nvSpPr>
        <p:spPr>
          <a:xfrm>
            <a:off x="3035808" y="513207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125" name="Shape 123"/>
          <p:cNvSpPr/>
          <p:nvPr/>
        </p:nvSpPr>
        <p:spPr>
          <a:xfrm>
            <a:off x="3447288" y="513207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126" name="Shape 124"/>
          <p:cNvSpPr/>
          <p:nvPr/>
        </p:nvSpPr>
        <p:spPr>
          <a:xfrm>
            <a:off x="3858768" y="513207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127" name="Shape 125"/>
          <p:cNvSpPr/>
          <p:nvPr/>
        </p:nvSpPr>
        <p:spPr>
          <a:xfrm>
            <a:off x="4270248" y="513207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128" name="Shape 126"/>
          <p:cNvSpPr/>
          <p:nvPr/>
        </p:nvSpPr>
        <p:spPr>
          <a:xfrm>
            <a:off x="4681728" y="513207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129" name="Shape 127"/>
          <p:cNvSpPr/>
          <p:nvPr/>
        </p:nvSpPr>
        <p:spPr>
          <a:xfrm>
            <a:off x="5093208" y="5132070"/>
            <a:ext cx="393192" cy="381762"/>
          </a:xfrm>
          <a:prstGeom prst="rect">
            <a:avLst/>
          </a:prstGeom>
          <a:solidFill>
            <a:srgbClr val="E6F7F3"/>
          </a:solidFill>
          <a:ln/>
        </p:spPr>
      </p:sp>
      <p:sp>
        <p:nvSpPr>
          <p:cNvPr id="130" name="Shape 128"/>
          <p:cNvSpPr/>
          <p:nvPr/>
        </p:nvSpPr>
        <p:spPr>
          <a:xfrm>
            <a:off x="5504688" y="5132070"/>
            <a:ext cx="393192" cy="381762"/>
          </a:xfrm>
          <a:prstGeom prst="rect">
            <a:avLst/>
          </a:prstGeom>
          <a:solidFill>
            <a:srgbClr val="F7ECD6"/>
          </a:solidFill>
          <a:ln/>
        </p:spPr>
      </p:sp>
      <p:sp>
        <p:nvSpPr>
          <p:cNvPr id="131" name="Shape 129"/>
          <p:cNvSpPr/>
          <p:nvPr/>
        </p:nvSpPr>
        <p:spPr>
          <a:xfrm>
            <a:off x="5916168" y="5132070"/>
            <a:ext cx="393192" cy="381762"/>
          </a:xfrm>
          <a:prstGeom prst="rect">
            <a:avLst/>
          </a:prstGeom>
          <a:solidFill>
            <a:srgbClr val="EAF6FA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327648" y="5132070"/>
            <a:ext cx="393192" cy="381762"/>
          </a:xfrm>
          <a:prstGeom prst="rect">
            <a:avLst/>
          </a:prstGeom>
          <a:solidFill>
            <a:srgbClr val="D3ECF6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739128" y="5132070"/>
            <a:ext cx="393192" cy="381762"/>
          </a:xfrm>
          <a:prstGeom prst="rect">
            <a:avLst/>
          </a:prstGeom>
          <a:solidFill>
            <a:srgbClr val="BFE4F2"/>
          </a:solidFill>
          <a:ln/>
        </p:spPr>
      </p:sp>
      <p:sp>
        <p:nvSpPr>
          <p:cNvPr id="134" name="Text 132"/>
          <p:cNvSpPr/>
          <p:nvPr/>
        </p:nvSpPr>
        <p:spPr>
          <a:xfrm>
            <a:off x="54864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channels →</a:t>
            </a:r>
            <a:endParaRPr lang="en-US" sz="1100" dirty="0"/>
          </a:p>
        </p:txBody>
      </p:sp>
      <p:sp>
        <p:nvSpPr>
          <p:cNvPr id="135" name="Text 133"/>
          <p:cNvSpPr/>
          <p:nvPr/>
        </p:nvSpPr>
        <p:spPr>
          <a:xfrm>
            <a:off x="4315968" y="56052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1125 samples (time) →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7635240" y="2331720"/>
            <a:ext cx="4023360" cy="3200400"/>
          </a:xfrm>
          <a:prstGeom prst="roundRect">
            <a:avLst>
              <a:gd name="adj" fmla="val 3143"/>
            </a:avLst>
          </a:prstGeom>
          <a:solidFill>
            <a:srgbClr val="241356"/>
          </a:solidFill>
          <a:ln w="12700">
            <a:solidFill>
              <a:srgbClr val="241356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37" name="Shape 135"/>
          <p:cNvSpPr/>
          <p:nvPr/>
        </p:nvSpPr>
        <p:spPr>
          <a:xfrm>
            <a:off x="9281160" y="2606040"/>
            <a:ext cx="960120" cy="960120"/>
          </a:xfrm>
          <a:prstGeom prst="ellipse">
            <a:avLst/>
          </a:prstGeom>
          <a:solidFill>
            <a:srgbClr val="5B2A9D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38" name="Image 0" descr="/home/user/BrainWerks-/learning/deck-src/assets/tabl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0392" y="2865272"/>
            <a:ext cx="441655" cy="441655"/>
          </a:xfrm>
          <a:prstGeom prst="rect">
            <a:avLst/>
          </a:prstGeom>
        </p:spPr>
      </p:pic>
      <p:sp>
        <p:nvSpPr>
          <p:cNvPr id="139" name="Text 136"/>
          <p:cNvSpPr/>
          <p:nvPr/>
        </p:nvSpPr>
        <p:spPr>
          <a:xfrm>
            <a:off x="7772400" y="3703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in ONE clip</a:t>
            </a:r>
            <a:endParaRPr lang="en-US" sz="1250" dirty="0"/>
          </a:p>
        </p:txBody>
      </p:sp>
      <p:sp>
        <p:nvSpPr>
          <p:cNvPr id="140" name="Text 137"/>
          <p:cNvSpPr/>
          <p:nvPr/>
        </p:nvSpPr>
        <p:spPr>
          <a:xfrm>
            <a:off x="777240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× 1125</a:t>
            </a:r>
            <a:endParaRPr lang="en-US" sz="2200" dirty="0"/>
          </a:p>
        </p:txBody>
      </p:sp>
      <p:sp>
        <p:nvSpPr>
          <p:cNvPr id="141" name="Text 138"/>
          <p:cNvSpPr/>
          <p:nvPr/>
        </p:nvSpPr>
        <p:spPr>
          <a:xfrm>
            <a:off x="7772400" y="45720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24,750</a:t>
            </a:r>
            <a:endParaRPr lang="en-US" sz="3000" dirty="0"/>
          </a:p>
        </p:txBody>
      </p:sp>
      <p:sp>
        <p:nvSpPr>
          <p:cNvPr id="142" name="Text 139"/>
          <p:cNvSpPr/>
          <p:nvPr/>
        </p:nvSpPr>
        <p:spPr>
          <a:xfrm>
            <a:off x="7772400" y="5166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for a single 4.5-second clip.</a:t>
            </a:r>
            <a:endParaRPr lang="en-US" sz="1150" dirty="0"/>
          </a:p>
        </p:txBody>
      </p:sp>
      <p:sp>
        <p:nvSpPr>
          <p:cNvPr id="143" name="Text 140"/>
          <p:cNvSpPr/>
          <p:nvPr/>
        </p:nvSpPr>
        <p:spPr>
          <a:xfrm>
            <a:off x="566928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app shows a slice of this exact grid when you click 'View the windows'.)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 4 · HOW MANY CLIPS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576 come from?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566160" cy="2148840"/>
          </a:xfrm>
          <a:prstGeom prst="roundRect">
            <a:avLst>
              <a:gd name="adj" fmla="val 4681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2808" y="2011680"/>
            <a:ext cx="914400" cy="914400"/>
          </a:xfrm>
          <a:prstGeom prst="ellipse">
            <a:avLst/>
          </a:prstGeom>
          <a:solidFill>
            <a:srgbClr val="5B2A9D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6" name="Image 0" descr="/home/user/BrainWerks-/learning/deck-src/assets/ta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9696" y="225856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9992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movements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49808" y="3383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hand · Right hand · Feet · Tongue — the 4 labels.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66160" cy="2148840"/>
          </a:xfrm>
          <a:prstGeom prst="roundRect">
            <a:avLst>
              <a:gd name="adj" fmla="val 4681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41848" y="2011680"/>
            <a:ext cx="914400" cy="914400"/>
          </a:xfrm>
          <a:prstGeom prst="ellipse">
            <a:avLst/>
          </a:prstGeom>
          <a:solidFill>
            <a:srgbClr val="2DD4BF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1" name="Image 1" descr="/home/user/BrainWerks-/learning/deck-src/assets/loo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225856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15968" y="29992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tries each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498848" y="3383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repeats each movement 72 times.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65008" y="1828800"/>
            <a:ext cx="3566160" cy="2148840"/>
          </a:xfrm>
          <a:prstGeom prst="roundRect">
            <a:avLst>
              <a:gd name="adj" fmla="val 4681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90888" y="2011680"/>
            <a:ext cx="914400" cy="91440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6" name="Image 2" descr="/home/user/BrainWerks-/learning/deck-src/assets/clo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76" y="225856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65008" y="29992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days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247888" y="3383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 2 sessions on different days.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66928" y="4343400"/>
            <a:ext cx="11064240" cy="1371600"/>
          </a:xfrm>
          <a:prstGeom prst="roundRect">
            <a:avLst>
              <a:gd name="adj" fmla="val 7333"/>
            </a:avLst>
          </a:prstGeom>
          <a:solidFill>
            <a:srgbClr val="241356"/>
          </a:solidFill>
          <a:ln w="12700">
            <a:solidFill>
              <a:srgbClr val="241356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566928" y="4526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2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algn="ctr" indent="0" marL="0">
              <a:buNone/>
            </a:pPr>
            <a:r>
              <a:rPr lang="en-US" sz="2200" b="1" dirty="0">
                <a:solidFill>
                  <a:srgbClr val="CF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movements × </a:t>
            </a:r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 </a:t>
            </a:r>
            <a:pPr algn="ctr" indent="0" marL="0">
              <a:buNone/>
            </a:pPr>
            <a:r>
              <a:rPr lang="en-US" sz="2200" b="1" dirty="0">
                <a:solidFill>
                  <a:srgbClr val="CF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tries =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288</a:t>
            </a:r>
            <a:pPr algn="ctr" indent="0" marL="0">
              <a:buNone/>
            </a:pPr>
            <a:r>
              <a:rPr lang="en-US" sz="2200" b="1" dirty="0">
                <a:solidFill>
                  <a:srgbClr val="CF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 day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566928" y="5074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288 </a:t>
            </a:r>
            <a:pPr algn="ctr" indent="0" marL="0">
              <a:buNone/>
            </a:pPr>
            <a:r>
              <a:rPr lang="en-US" sz="2400" b="1" dirty="0">
                <a:solidFill>
                  <a:srgbClr val="CF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</a:t>
            </a:r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algn="ctr" indent="0" marL="0">
              <a:buNone/>
            </a:pPr>
            <a:r>
              <a:rPr lang="en-US" sz="2400" b="1" dirty="0">
                <a:solidFill>
                  <a:srgbClr val="CF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= </a:t>
            </a:r>
            <a:pPr algn="ctr" indent="0" marL="0">
              <a:buNone/>
            </a:pPr>
            <a:r>
              <a:rPr lang="en-US" sz="24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576 clips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every clip into one big box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all 576 clips and you get a 3-D box of numbers — scientists call it a tensor.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shape is exactly: 576 clips × 22 channels × 1125 samples.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them out to see how much data that really 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783080"/>
            <a:ext cx="4754880" cy="2788920"/>
          </a:xfrm>
          <a:prstGeom prst="roundRect">
            <a:avLst>
              <a:gd name="adj" fmla="val 3607"/>
            </a:avLst>
          </a:prstGeom>
          <a:solidFill>
            <a:srgbClr val="241356"/>
          </a:solidFill>
          <a:ln w="12700">
            <a:solidFill>
              <a:srgbClr val="241356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23960" y="2011680"/>
            <a:ext cx="914400" cy="914400"/>
          </a:xfrm>
          <a:prstGeom prst="ellipse">
            <a:avLst/>
          </a:prstGeom>
          <a:solidFill>
            <a:srgbClr val="FB7185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7" name="Image 0" descr="/home/user/BrainWerks-/learning/deck-src/assets/databas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48" y="225856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95160" y="3063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576 × 22 × 1125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995160" y="3611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14,256,000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99516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— over 14 million!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4892040"/>
            <a:ext cx="11064240" cy="1234440"/>
          </a:xfrm>
          <a:prstGeom prst="roundRect">
            <a:avLst>
              <a:gd name="adj" fmla="val 8148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49808" y="502920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pPr algn="ctr" indent="0" marL="0">
              <a:buNone/>
            </a:pPr>
            <a:r>
              <a:rPr lang="en-US" sz="1500" dirty="0">
                <a:solidFill>
                  <a:srgbClr val="1E1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the box of clips   (576, 22, 1125)          </a:t>
            </a:r>
            <a:pPr algn="ctr" indent="0" marL="0">
              <a:buNone/>
            </a:pPr>
            <a:r>
              <a:rPr lang="en-US" sz="1800" b="1" dirty="0">
                <a:solidFill>
                  <a:srgbClr val="5B2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</a:t>
            </a:r>
            <a:pPr algn="ctr" indent="0" marL="0">
              <a:buNone/>
            </a:pPr>
            <a:r>
              <a:rPr lang="en-US" sz="1500" dirty="0">
                <a:solidFill>
                  <a:srgbClr val="1E1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576 labels, one movement per clip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3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rainWerks-/learning/deck-src/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user/BrainWerks-/learning/deck-src/assets/wave_amber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5212080"/>
            <a:ext cx="12188952" cy="822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 THE MATH</a:t>
            </a:r>
            <a:endParaRPr lang="en-US" sz="1250" dirty="0"/>
          </a:p>
        </p:txBody>
      </p:sp>
      <p:sp>
        <p:nvSpPr>
          <p:cNvPr id="5" name="Text 1"/>
          <p:cNvSpPr/>
          <p:nvPr/>
        </p:nvSpPr>
        <p:spPr>
          <a:xfrm>
            <a:off x="566928" y="10058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the shape makes sense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566928" y="2103120"/>
            <a:ext cx="10972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8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Hz → a snapshot every 4 ms.  4.5 s × 250 = 1125 samples per clip.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8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sensors → 22 channels.  One clip = 22 × 1125 = 24,750 numbers.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8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movements × 72 tries × 2 days = 576 clips.  Whole box = 576 × 22 × 1125 = 14,256,000.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66928" y="4709160"/>
            <a:ext cx="11064240" cy="1234440"/>
          </a:xfrm>
          <a:prstGeom prst="roundRect">
            <a:avLst>
              <a:gd name="adj" fmla="val 8148"/>
            </a:avLst>
          </a:prstGeom>
          <a:solidFill>
            <a:srgbClr val="13224A"/>
          </a:solidFill>
          <a:ln w="12700">
            <a:solidFill>
              <a:srgbClr val="2A2A6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95528" y="4983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Try it: </a:t>
            </a:r>
            <a:pPr indent="0" marL="0">
              <a:buNone/>
            </a:pPr>
            <a:r>
              <a:rPr lang="en-US" sz="1500" dirty="0">
                <a:solidFill>
                  <a:srgbClr val="E8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Tutorial #2 in the BrainWerks app and click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'View the windows'</a:t>
            </a:r>
            <a:pPr indent="0" marL="0">
              <a:buNone/>
            </a:pPr>
            <a:r>
              <a:rPr lang="en-US" sz="1500" dirty="0">
                <a:solidFill>
                  <a:srgbClr val="E8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you'll see these exact numbers.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Waves &amp; AI — Tutorial #2</dc:title>
  <dc:subject>PptxGenJS Presentation</dc:subject>
  <dc:creator>BrainWerks</dc:creator>
  <cp:lastModifiedBy>BrainWerks</cp:lastModifiedBy>
  <cp:revision>1</cp:revision>
  <dcterms:created xsi:type="dcterms:W3CDTF">2026-08-13T02:37:33Z</dcterms:created>
  <dcterms:modified xsi:type="dcterms:W3CDTF">2026-08-13T02:37:33Z</dcterms:modified>
</cp:coreProperties>
</file>