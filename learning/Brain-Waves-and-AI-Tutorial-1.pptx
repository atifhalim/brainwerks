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Today we'll go from 'what is a brain wave?' all the way to training a tiny AI on brain signals — using the very first braindecode tutorial. No background needed. We'll watch a few short videos along the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Five steps, bottom to none skipped: electricity -&gt; brain waves -&gt; EEG recording -&gt; AI patterns -&gt; you training a model. Keep this map in mind; each slide is one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idea: the brain is electrical. One neuron is a tiny battery; 86 billion firing together create measurable signals. The TED-Ed video shows how nerve signals travel.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Brain waves are rhythms made by many neurons firing together. Five main bands from slow (deep sleep, Delta) to fast (intense focus, Gamma). Analogy: a crowd clapping in sync. This is what EEG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EEG is how we record brain waves: a cap of electrodes reading scalp voltage many times a second. Safe and non-invasive. Each electrode is a 'channel'. The 2-minute video shows exactly how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mental model: EEG data is a 3-D block — (trials, channels, time). This exact shape shows up in the code later as (100, 3, 1024). Getting this shape is 'half the battle' in the tutorial.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this isn't sci-fi. BCIs already let people type, move wheelchairs, and control devices with brain signals. Tan Le's TED talk has a live demo. This is where our little tutorial is heading.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need for AI: humans can't eyeball the difference between imagined left vs right hand movement — it's subtle and noisy. Machines can learn it. Transition to what AI/ML actually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before the deep dive: five steps, and the first three are all about data. We'll spend most time there because that's where beginners get confused and where most real work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 the data: EEG is literally a spreadsheet. Columns = channels (electrodes), rows = time points (samples), each cell = microvolts. Point at C3/Cz/C4 — real electrode names over the motor cortex. 250 Hz means 250 rows per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words carry the whole pipeline. Channel = column (electrode). Time = rows (samples). Trial = epoch = one labeled clip. Class = the category to predict. Everything else is built from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deep-dive. A sample = one voltage snapshot; 250 Hz = 250 per second; movie-frames analogy. Why the voltage changes: neurons fire in constantly changing amounts, so the summed scalp voltage rises and falls — that IS the wave. 1024 samples / 250 ≈ 4s per clip.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 length = samples ÷ Hz. 1024 ÷ 250 ≈ 4 s. The scientist picks the window. The trap (row 2): more Hz does NOT lengthen the clip — it packs the same number of snapshots closer together; only more samples make a longer clip. This is a real decision every data-pipeline builder must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epoch = a trial = one equal-length labeled clip cut from the long recording. Equal length matters — the model needs every example the same size. Flag now: 'epoch' will mean something else in training; we'll clear that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things. (1) Label source: during recording the machine logs the cue as an event marker/trigger at that exact moment; the epoch cut around it inherits that class. (2) Timing: EEG samples and markers share one clock, so each cue maps to a known sample index; we cut a fixed-length window from the cue, giving aligned, equal-length epochs. That shared clock is why Hz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mental model. One epoch is a channels×time grid (3×1024). Stack 100 of them and you get X with shape (trials, channels, time) = (100,3,1024). y holds one class label per trial. Note we transposed vs Step 1 — that's part of prep.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Preparation = clean + standardize + reshape + align. Why: models need uniform, clean, comparable inputs. Filtering removes non-brain noise; equal length and fixed units make clips comparable; reshape matches the model's expected block; X and y must line up. Garbage in, garbage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Training: first split into train vs validation. Then the loop — show clip, guess, check against label, nudge weights — repeated over many passes. Crucial vocabulary fix: 'epoch' in training = one full pass over the data, totally different from an EEG epoch. Our table showed 10 training epochs.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= fraction correct on held-out validation clips the model never trained on — that's how we know it generalized, not memorized. Chance = 1/classes = 25% for 4 classes. Our noise run sits ~15% (chance), i.e., learned nothing — correct. Real data pushes it higher.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together: each of the 5 steps is one or two lines. Get data, make epochs, (prepare — largely automatic), fit = train, score = accuracy. ~15 lines total. This is the payoff of the whole deep dive.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Reinforce: chance-level accuracy on random data is success. The model honestly reports 'no signal.' It proves the plumbing works, ready for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Payoff: identical pipeline + real motor-imagery EEG jumps from ~25% chance to 70-90%. Reads imagined left vs right hand. That's a working BCI. Ranges are typical for the classic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Glossary, now including the two meanings of 'epoch', plus X/y, validation, filter, sample. Great for a quick review or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beginner-friendly videos plus links to braindecode, the exact Tutorial #1 page, MNE, and PyTorch.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recap the pipeline vocabulary and the WHY of data prep, point to the repo, and encourage. The theme: understanding the data demystifies the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U_4uA6-zcE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tZcKT4l_JZk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hyperlink" Target="https://www.youtube.com/watch?v=fs2GDSYYCoA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youtube.com/watch?v=uU_4uA6-zcE" TargetMode="External"/><Relationship Id="rId7" Type="http://schemas.openxmlformats.org/officeDocument/2006/relationships/hyperlink" Target="https://www.youtube.com/watch?v=tZcKT4l_JZk" TargetMode="External"/><Relationship Id="rId9" Type="http://schemas.openxmlformats.org/officeDocument/2006/relationships/hyperlink" Target="https://www.youtube.com/watch?v=fs2GDSYYCoA" TargetMode="External"/><Relationship Id="rId11" Type="http://schemas.openxmlformats.org/officeDocument/2006/relationships/hyperlink" Target="https://www.youtube.com/watch?v=ZkWJem3LY5E" TargetMode="External"/><Relationship Id="rId13" Type="http://schemas.openxmlformats.org/officeDocument/2006/relationships/hyperlink" Target="https://www.youtube.com/watch?v=jmmW0F0biz0" TargetMode="External"/><Relationship Id="rId14" Type="http://schemas.openxmlformats.org/officeDocument/2006/relationships/hyperlink" Target="https://braindecode.org/stable/index.html" TargetMode="External"/><Relationship Id="rId15" Type="http://schemas.openxmlformats.org/officeDocument/2006/relationships/hyperlink" Target="https://braindecode.org/stable/auto_examples/model_building/plot_basic_training_epochs.html" TargetMode="External"/><Relationship Id="rId16" Type="http://schemas.openxmlformats.org/officeDocument/2006/relationships/hyperlink" Target="https://mne.tools/stable/index.html" TargetMode="External"/><Relationship Id="rId17" Type="http://schemas.openxmlformats.org/officeDocument/2006/relationships/hyperlink" Target="https://pytorch.org/" TargetMode="External"/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6" Type="http://schemas.openxmlformats.org/officeDocument/2006/relationships/image" Target="../media/image-24-4.png"/><Relationship Id="rId8" Type="http://schemas.openxmlformats.org/officeDocument/2006/relationships/image" Target="../media/image-24-4.png"/><Relationship Id="rId10" Type="http://schemas.openxmlformats.org/officeDocument/2006/relationships/image" Target="../media/image-24-4.png"/><Relationship Id="rId12" Type="http://schemas.openxmlformats.org/officeDocument/2006/relationships/image" Target="../media/image-24-4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rainWerks-/5a83b660-f2d0-5112-a440-0945fe0cbab1/scratchpad/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claude-0/-home-user-BrainWerks-/5a83b660-f2d0-5112-a440-0945fe0cbab1/scratchpad/deck/assets/wave_cyan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0" y="4160520"/>
            <a:ext cx="12188952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66928" y="685800"/>
            <a:ext cx="1051560" cy="1051560"/>
          </a:xfrm>
          <a:prstGeom prst="ellipse">
            <a:avLst/>
          </a:prstGeom>
          <a:solidFill>
            <a:srgbClr val="5B2A9D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5" name="Image 2" descr="/tmp/claude-0/-home-user-BrainWerks-/5a83b660-f2d0-5112-a440-0945fe0cbab1/scratchpad/deck/assets/brai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49" y="969721"/>
            <a:ext cx="483718" cy="48371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801368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WAVES  ×  ARTIFICIAL INTELLIGENCE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566928" y="20574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Minds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Machines</a:t>
            </a:r>
            <a:endParaRPr lang="en-US" sz="6000" dirty="0"/>
          </a:p>
        </p:txBody>
      </p:sp>
      <p:sp>
        <p:nvSpPr>
          <p:cNvPr id="8" name="Text 3"/>
          <p:cNvSpPr/>
          <p:nvPr/>
        </p:nvSpPr>
        <p:spPr>
          <a:xfrm>
            <a:off x="566928" y="4343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scientists use your brain's electricity and AI to do real science — and how you can too.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6692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lesson built from </a:t>
            </a:r>
            <a:pPr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braindecode</a:t>
            </a:r>
            <a:pPr indent="0" marL="0">
              <a:buNone/>
            </a:pPr>
            <a:r>
              <a:rPr lang="en-US" sz="1400" dirty="0">
                <a:solidFill>
                  <a:srgbClr val="B9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Tutorial #1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JOURNEY TODAY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566928" cy="566928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6" name="Image 0" descr="/tmp/claude-0/-home-user-BrainWerks-/5a83b660-f2d0-5112-a440-0945fe0cbab1/scratchpad/deck/assets/bol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591" y="211903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8488" y="19933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18488" y="22128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brain runs on electricity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059168" y="1929384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neurons firing tiny electrical sparks.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752344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843784"/>
            <a:ext cx="566928" cy="566928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2" name="Image 1" descr="/tmp/claude-0/-home-user-BrainWerks-/5a83b660-f2d0-5112-a440-0945fe0cbab1/scratchpad/deck/assets/wav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91" y="2996855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18488" y="28712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618488" y="30906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Those sparks make brain waves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059168" y="2807208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Rhythms we can actually measure from outside the head.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66928" y="3630168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721608"/>
            <a:ext cx="566928" cy="566928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8" name="Image 2" descr="/tmp/claude-0/-home-user-BrainWerks-/5a83b660-f2d0-5112-a440-0945fe0cbab1/scratchpad/deck/assets/headse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91" y="3874679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18488" y="3749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618488" y="39684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record them with EEG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7059168" y="3685032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cap of sensors turns thoughts into wiggly lines.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66928" y="4507992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599432"/>
            <a:ext cx="566928" cy="566928"/>
          </a:xfrm>
          <a:prstGeom prst="ellipse">
            <a:avLst/>
          </a:prstGeom>
          <a:solidFill>
            <a:srgbClr val="5B2A9D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24" name="Image 3" descr="/tmp/claude-0/-home-user-BrainWerks-/5a83b660-f2d0-5112-a440-0945fe0cbab1/scratchpad/deck/assets/robo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91" y="4752503"/>
            <a:ext cx="260787" cy="2607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18488" y="46268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2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618488" y="48463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finds the hidden patterns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059168" y="456285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reads signals humans can't eyeball.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66928" y="5385816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31520" y="5477256"/>
            <a:ext cx="566928" cy="566928"/>
          </a:xfrm>
          <a:prstGeom prst="ellipse">
            <a:avLst/>
          </a:prstGeom>
          <a:solidFill>
            <a:srgbClr val="FB7185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30" name="Image 4" descr="/tmp/claude-0/-home-user-BrainWerks-/5a83b660-f2d0-5112-a440-0945fe0cbab1/scratchpad/deck/assets/cod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91" y="5630327"/>
            <a:ext cx="260787" cy="26078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18488" y="55046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1618488" y="57241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train your own model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7059168" y="5440680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walk through braindecode Tutorial #1, step by step.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THE SPARK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brain runs on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6126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about 86 billion tiny cells called neurons.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'talk' by sending little electrical pulses — like tiny sparks passing a message.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thought, movement, and feeling is really a pattern of these sparks.</a:t>
            </a:r>
            <a:endParaRPr lang="en-US" sz="15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many neurons spark together, the signal is strong enough to measure from outside your head.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040880" y="1874520"/>
            <a:ext cx="4617720" cy="4160520"/>
          </a:xfrm>
          <a:prstGeom prst="roundRect">
            <a:avLst>
              <a:gd name="adj" fmla="val 2418"/>
            </a:avLst>
          </a:prstGeom>
          <a:solidFill>
            <a:srgbClr val="241356"/>
          </a:solidFill>
          <a:ln w="12700">
            <a:solidFill>
              <a:srgbClr val="241356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pic>
        <p:nvPicPr>
          <p:cNvPr id="6" name="Image 0" descr="/tmp/claude-0/-home-user-BrainWerks-/5a83b660-f2d0-5112-a440-0945fe0cbab1/scratchpad/deck/assets/bg_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874520"/>
            <a:ext cx="461772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32520" y="2468880"/>
            <a:ext cx="1234440" cy="123444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8" name="Image 1" descr="/tmp/claude-0/-home-user-BrainWerks-/5a83b660-f2d0-5112-a440-0945fe0cbab1/scratchpad/deck/assets/bol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819" y="2802179"/>
            <a:ext cx="567842" cy="567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23760" y="39776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neuron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223760" y="43159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tiny battery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223760" y="507492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86,000,000,000 of them = a storm of signals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66928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Watch (5 min): </a:t>
            </a:r>
            <a:pPr indent="0" marL="0">
              <a:buNone/>
            </a:pPr>
            <a:r>
              <a:rPr lang="en-US" sz="1350" u="sng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TED-Ed: How do nerves work?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TED-Ed — How do nerves work?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THE RHYTHM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 is a 'brain wave'?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lots of neurons fire in rhythm together, they create waves of electricity — like a stadium crowd clapping in sync. </a:t>
            </a:r>
            <a:pPr indent="0" marL="0">
              <a:buNone/>
            </a:pPr>
            <a:r>
              <a:rPr lang="en-US" sz="1550" b="1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rhythms = more alert. Slower = more relaxed or asleep.</a:t>
            </a:r>
            <a:endParaRPr lang="en-US" sz="1550" dirty="0"/>
          </a:p>
        </p:txBody>
      </p:sp>
      <p:pic>
        <p:nvPicPr>
          <p:cNvPr id="5" name="Image 0" descr="/tmp/claude-0/-home-user-BrainWerks-/5a83b660-f2d0-5112-a440-0945fe0cbab1/scratchpad/deck/assets/wav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697480"/>
            <a:ext cx="1106424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657600"/>
            <a:ext cx="2084832" cy="2331720"/>
          </a:xfrm>
          <a:prstGeom prst="roundRect">
            <a:avLst>
              <a:gd name="adj" fmla="val 4825"/>
            </a:avLst>
          </a:prstGeom>
          <a:solidFill>
            <a:srgbClr val="FFFFFF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" y="3657600"/>
            <a:ext cx="2084832" cy="566928"/>
          </a:xfrm>
          <a:prstGeom prst="roundRect">
            <a:avLst>
              <a:gd name="adj" fmla="val 14516"/>
            </a:avLst>
          </a:prstGeom>
          <a:solidFill>
            <a:srgbClr val="5B2A9D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367588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66928" y="44348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0.5–4 Hz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502920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sleep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88920" y="3657600"/>
            <a:ext cx="2084832" cy="2331720"/>
          </a:xfrm>
          <a:prstGeom prst="roundRect">
            <a:avLst>
              <a:gd name="adj" fmla="val 4825"/>
            </a:avLst>
          </a:prstGeom>
          <a:solidFill>
            <a:srgbClr val="FFFFFF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88920" y="3657600"/>
            <a:ext cx="2084832" cy="566928"/>
          </a:xfrm>
          <a:prstGeom prst="roundRect">
            <a:avLst>
              <a:gd name="adj" fmla="val 14516"/>
            </a:avLst>
          </a:prstGeom>
          <a:solidFill>
            <a:srgbClr val="3B4CC0"/>
          </a:solidFill>
          <a:ln/>
        </p:spPr>
      </p:sp>
      <p:sp>
        <p:nvSpPr>
          <p:cNvPr id="13" name="Text 10"/>
          <p:cNvSpPr/>
          <p:nvPr/>
        </p:nvSpPr>
        <p:spPr>
          <a:xfrm>
            <a:off x="2788920" y="367588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Theta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788920" y="44348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4–8 Hz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788920" y="502920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Drowsy / dreamy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10912" y="3657600"/>
            <a:ext cx="2084832" cy="2331720"/>
          </a:xfrm>
          <a:prstGeom prst="roundRect">
            <a:avLst>
              <a:gd name="adj" fmla="val 4825"/>
            </a:avLst>
          </a:prstGeom>
          <a:solidFill>
            <a:srgbClr val="FFFFFF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10912" y="3657600"/>
            <a:ext cx="2084832" cy="566928"/>
          </a:xfrm>
          <a:prstGeom prst="roundRect">
            <a:avLst>
              <a:gd name="adj" fmla="val 14516"/>
            </a:avLst>
          </a:prstGeom>
          <a:solidFill>
            <a:srgbClr val="2DD4BF"/>
          </a:solidFill>
          <a:ln/>
        </p:spPr>
      </p:sp>
      <p:sp>
        <p:nvSpPr>
          <p:cNvPr id="18" name="Text 15"/>
          <p:cNvSpPr/>
          <p:nvPr/>
        </p:nvSpPr>
        <p:spPr>
          <a:xfrm>
            <a:off x="5010912" y="367588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5010912" y="44348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8–12 Hz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010912" y="502920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&amp; relaxed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232904" y="3657600"/>
            <a:ext cx="2084832" cy="2331720"/>
          </a:xfrm>
          <a:prstGeom prst="roundRect">
            <a:avLst>
              <a:gd name="adj" fmla="val 4825"/>
            </a:avLst>
          </a:prstGeom>
          <a:solidFill>
            <a:srgbClr val="FFFFFF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232904" y="3657600"/>
            <a:ext cx="2084832" cy="566928"/>
          </a:xfrm>
          <a:prstGeom prst="roundRect">
            <a:avLst>
              <a:gd name="adj" fmla="val 14516"/>
            </a:avLst>
          </a:prstGeom>
          <a:solidFill>
            <a:srgbClr val="22D3EE"/>
          </a:solidFill>
          <a:ln/>
        </p:spPr>
      </p:sp>
      <p:sp>
        <p:nvSpPr>
          <p:cNvPr id="23" name="Text 20"/>
          <p:cNvSpPr/>
          <p:nvPr/>
        </p:nvSpPr>
        <p:spPr>
          <a:xfrm>
            <a:off x="7232904" y="367588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7232904" y="44348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12–30 Hz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232904" y="502920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Awake &amp; focused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454896" y="3657600"/>
            <a:ext cx="2084832" cy="2331720"/>
          </a:xfrm>
          <a:prstGeom prst="roundRect">
            <a:avLst>
              <a:gd name="adj" fmla="val 4825"/>
            </a:avLst>
          </a:prstGeom>
          <a:solidFill>
            <a:srgbClr val="FFFFFF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454896" y="3657600"/>
            <a:ext cx="2084832" cy="566928"/>
          </a:xfrm>
          <a:prstGeom prst="roundRect">
            <a:avLst>
              <a:gd name="adj" fmla="val 14516"/>
            </a:avLst>
          </a:prstGeom>
          <a:solidFill>
            <a:srgbClr val="FBBF24"/>
          </a:solidFill>
          <a:ln/>
        </p:spPr>
      </p:sp>
      <p:sp>
        <p:nvSpPr>
          <p:cNvPr id="28" name="Text 25"/>
          <p:cNvSpPr/>
          <p:nvPr/>
        </p:nvSpPr>
        <p:spPr>
          <a:xfrm>
            <a:off x="9454896" y="367588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9454896" y="44348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Hz +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9454896" y="502920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thinking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66928" y="6172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 = 'hertz' = how many waves per second.  Higher Hz = faster rhythm.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LISTENING 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hear the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brain? EEG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260604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= Electro-Encephalo-Graphy. Big word, simple idea: measuring the brain's electricity.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wear a soft cap covered in small metal sensors called electrodes.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electrode reads the voltage at that spot on the scalp, many times per second.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completely safe and painless — nothing goes in, it only listens.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95160" y="1874520"/>
            <a:ext cx="4663440" cy="3977640"/>
          </a:xfrm>
          <a:prstGeom prst="roundRect">
            <a:avLst>
              <a:gd name="adj" fmla="val 2529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32520" y="2286000"/>
            <a:ext cx="1188720" cy="118872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7" name="Image 0" descr="/tmp/claude-0/-home-user-BrainWerks-/5a83b660-f2d0-5112-a440-0945fe0cbab1/scratchpad/deck/assets/heads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3474" y="2606954"/>
            <a:ext cx="546811" cy="5468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804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sensor = 1 'channel'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269480" y="41148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cap can have 32, 64, or 128 channels — 128 tiny microphones, all listening to your brain at once.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Watch (2 min): </a:t>
            </a:r>
            <a:pPr indent="0" marL="0">
              <a:buNone/>
            </a:pPr>
            <a:r>
              <a:rPr lang="en-US" sz="1350" u="sng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2-Minute Neuroscience: EE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2-Minute Neuroscience — EEG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brain data looks like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is just numbers: for every channel, the voltage at every moment in time. Stack the channels and you get wiggly lines — and to a computer, a neat 3-D block of numbers.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3611880" cy="2148840"/>
          </a:xfrm>
          <a:prstGeom prst="roundRect">
            <a:avLst>
              <a:gd name="adj" fmla="val 4681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953512"/>
            <a:ext cx="914400" cy="9144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7" name="Image 0" descr="/tmp/claude-0/-home-user-BrainWerks-/5a83b660-f2d0-5112-a440-0945fe0cbab1/scratchpad/deck/assets/lis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3200400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92808" y="29718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short clip of brain activity (e.g. one time you imagined moving).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2697480"/>
            <a:ext cx="3611880" cy="2148840"/>
          </a:xfrm>
          <a:prstGeom prst="roundRect">
            <a:avLst>
              <a:gd name="adj" fmla="val 4681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3712" y="2953512"/>
            <a:ext cx="914400" cy="91440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2" name="Image 1" descr="/tmp/claude-0/-home-user-BrainWerks-/5a83b660-f2d0-5112-a440-0945fe0cbab1/scratchpad/deck/assets/headse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20040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9718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53712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sensors were listening (e.g. 3, or 64).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28432" y="2697480"/>
            <a:ext cx="3611880" cy="2148840"/>
          </a:xfrm>
          <a:prstGeom prst="roundRect">
            <a:avLst>
              <a:gd name="adj" fmla="val 4681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84464" y="2953512"/>
            <a:ext cx="914400" cy="91440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7" name="Image 2" descr="/tmp/claude-0/-home-user-BrainWerks-/5a83b660-f2d0-5112-a440-0945fe0cbab1/scratchpad/deck/assets/wav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3200400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54312" y="29718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284464" y="3977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moments were recorded in that clip (e.g. 1024).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E1B34"/>
          </a:solidFill>
          <a:ln/>
          <a:effectLst>
            <a:outerShdw sx="100000" sy="100000" kx="0" ky="0" algn="bl" rotWithShape="0" blurRad="88900" dist="38100" dir="5400000">
              <a:srgbClr val="1A1636">
                <a:alpha val="2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86968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data: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86968" y="55046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trials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, </a:t>
            </a:r>
            <a:pPr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, </a:t>
            </a:r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)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rainWerks-/5a83b660-f2d0-5112-a440-0945fe0cbab1/scratchpad/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claude-0/-home-user-BrainWerks-/5a83b660-f2d0-5112-a440-0945fe0cbab1/scratchpad/deck/assets/wave_cyan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6035040"/>
            <a:ext cx="12188952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CARE</a:t>
            </a:r>
            <a:endParaRPr lang="en-US" sz="1250" dirty="0"/>
          </a:p>
        </p:txBody>
      </p:sp>
      <p:sp>
        <p:nvSpPr>
          <p:cNvPr id="5" name="Text 1"/>
          <p:cNvSpPr/>
          <p:nvPr/>
        </p:nvSpPr>
        <p:spPr>
          <a:xfrm>
            <a:off x="566928" y="914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 control is real: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Brain–Computer Interfaces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28803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41248" y="315468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8" name="Image 2" descr="/tmp/claude-0/-home-user-BrainWerks-/5a83b660-f2d0-5112-a440-0945fe0cbab1/scratchpad/deck/assets/comment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92" y="3389224"/>
            <a:ext cx="399593" cy="39959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1248" y="4087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by thinking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841248" y="44531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can't speak spell words with their mind.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315968" y="28803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590288" y="315468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3" name="Image 3" descr="/tmp/claude-0/-home-user-BrainWerks-/5a83b660-f2d0-5112-a440-0945fe0cbab1/scratchpad/deck/assets/wheelchair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832" y="3389224"/>
            <a:ext cx="399593" cy="3995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90288" y="4087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a wheelchair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4590288" y="44531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 devices and robotic arms with brain signals.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8065008" y="28803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339328" y="315468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8" name="Image 4" descr="/tmp/claude-0/-home-user-BrainWerks-/5a83b660-f2d0-5112-a440-0945fe0cbab1/scratchpad/deck/assets/han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872" y="3389224"/>
            <a:ext cx="399593" cy="39959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339328" y="4087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games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8339328" y="44531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 cursor or a game — no hands needed.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66928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Watch (demo): </a:t>
            </a:r>
            <a:pPr indent="0" marL="0">
              <a:buNone/>
            </a:pPr>
            <a:r>
              <a:rPr lang="en-US" sz="1400" u="sng" dirty="0">
                <a:solidFill>
                  <a:srgbClr val="E9E6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TED: A headset that reads your brainwave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TED — Tan Le: A headset that reads your brainwaves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catch: the patterns are HARD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look at these squiggles and tell whether the person imagined moving their LEFT hand or their RIGHT hand?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11064240" cy="1600200"/>
          </a:xfrm>
          <a:prstGeom prst="roundRect">
            <a:avLst>
              <a:gd name="adj" fmla="val 6286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pic>
        <p:nvPicPr>
          <p:cNvPr id="6" name="Image 0" descr="/tmp/claude-0/-home-user-BrainWerks-/5a83b660-f2d0-5112-a440-0945fe0cbab1/scratchpad/deck/assets/wav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788920"/>
            <a:ext cx="10698480" cy="502920"/>
          </a:xfrm>
          <a:prstGeom prst="rect">
            <a:avLst/>
          </a:prstGeom>
        </p:spPr>
      </p:pic>
      <p:pic>
        <p:nvPicPr>
          <p:cNvPr id="7" name="Image 1" descr="/tmp/claude-0/-home-user-BrainWerks-/5a83b660-f2d0-5112-a440-0945fe0cbab1/scratchpad/deck/assets/wave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429000"/>
            <a:ext cx="1069848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528" y="3931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hand?                                                                                Right hand?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66928" y="4526280"/>
            <a:ext cx="11064240" cy="1600200"/>
          </a:xfrm>
          <a:prstGeom prst="roundRect">
            <a:avLst>
              <a:gd name="adj" fmla="val 6286"/>
            </a:avLst>
          </a:prstGeom>
          <a:solidFill>
            <a:srgbClr val="241356"/>
          </a:solidFill>
          <a:ln/>
          <a:effectLst>
            <a:outerShdw sx="100000" sy="100000" kx="0" ky="0" algn="bl" rotWithShape="0" blurRad="88900" dist="38100" dir="5400000">
              <a:srgbClr val="1A1636">
                <a:alpha val="2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86968" y="4846320"/>
            <a:ext cx="960120" cy="96012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1" name="Image 2" descr="/tmp/claude-0/-home-user-BrainWerks-/5a83b660-f2d0-5112-a440-0945fe0cbab1/scratchpad/deck/assets/robo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200" y="5105552"/>
            <a:ext cx="441655" cy="44165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21408" y="47091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nobody can — the differences are tiny and buried in noise.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2121408" y="5212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computer can learn to spot them. That's exactly the job we hand to Artificial Intelligence.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rainWerks-/5a83b660-f2d0-5112-a440-0945fe0cbab1/scratchpad/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claude-0/-home-user-BrainWerks-/5a83b660-f2d0-5112-a440-0945fe0cbab1/scratchpad/deck/assets/wave_cyan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6035040"/>
            <a:ext cx="12188952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66928" y="640080"/>
            <a:ext cx="1005840" cy="100584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5" name="Image 2" descr="/tmp/claude-0/-home-user-BrainWerks-/5a83b660-f2d0-5112-a440-0945fe0cbab1/scratchpad/deck/assets/cod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5" y="911657"/>
            <a:ext cx="462686" cy="46268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55648" y="713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&amp; THE RECIPE</a:t>
            </a:r>
            <a:endParaRPr lang="en-US" sz="1250" dirty="0"/>
          </a:p>
        </p:txBody>
      </p:sp>
      <p:sp>
        <p:nvSpPr>
          <p:cNvPr id="7" name="Text 2"/>
          <p:cNvSpPr/>
          <p:nvPr/>
        </p:nvSpPr>
        <p:spPr>
          <a:xfrm>
            <a:off x="1755648" y="969264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tool, five steps</a:t>
            </a:r>
            <a:endParaRPr lang="en-US" sz="3400" dirty="0"/>
          </a:p>
        </p:txBody>
      </p:sp>
      <p:sp>
        <p:nvSpPr>
          <p:cNvPr id="8" name="Text 3"/>
          <p:cNvSpPr/>
          <p:nvPr/>
        </p:nvSpPr>
        <p:spPr>
          <a:xfrm>
            <a:off x="566928" y="2148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braindecode</a:t>
            </a:r>
            <a:pPr indent="0" marL="0">
              <a:buNone/>
            </a:pPr>
            <a:r>
              <a:rPr lang="en-US" sz="1600" dirty="0">
                <a:solidFill>
                  <a:srgbClr val="D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free tool that does the hard parts for us. Every project follows the SAME five steps — and the first three are all about the 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pPr indent="0" marL="0">
              <a:buNone/>
            </a:pPr>
            <a:r>
              <a:rPr lang="en-US" sz="1600" dirty="0">
                <a:solidFill>
                  <a:srgbClr val="D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Let's zoom into each one.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66928" y="324612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52144" y="3502152"/>
            <a:ext cx="914400" cy="91440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1" name="Image 3" descr="/tmp/claude-0/-home-user-BrainWerks-/5a83b660-f2d0-5112-a440-0945fe0cbab1/scratchpad/deck/assets/databas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032" y="3749040"/>
            <a:ext cx="420624" cy="4206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66928" y="4480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Get data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58368" y="487375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brain signal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2624328" y="40233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9"/>
          <p:cNvSpPr/>
          <p:nvPr/>
        </p:nvSpPr>
        <p:spPr>
          <a:xfrm>
            <a:off x="2788920" y="324612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3374136" y="3502152"/>
            <a:ext cx="914400" cy="91440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7" name="Image 4" descr="/tmp/claude-0/-home-user-BrainWerks-/5a83b660-f2d0-5112-a440-0945fe0cbab1/scratchpad/deck/assets/cu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3749040"/>
            <a:ext cx="420624" cy="4206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788920" y="4480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Make epochs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2880360" y="487375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into clips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4846320" y="40233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5010912" y="324612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5596128" y="3502152"/>
            <a:ext cx="914400" cy="91440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23" name="Image 5" descr="/tmp/claude-0/-home-user-BrainWerks-/5a83b660-f2d0-5112-a440-0945fe0cbab1/scratchpad/deck/assets/filter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16" y="3749040"/>
            <a:ext cx="420624" cy="42062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010912" y="4480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Prepare it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5102352" y="487375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reshape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7068312" y="40233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19"/>
          <p:cNvSpPr/>
          <p:nvPr/>
        </p:nvSpPr>
        <p:spPr>
          <a:xfrm>
            <a:off x="7232904" y="324612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18120" y="3502152"/>
            <a:ext cx="914400" cy="914400"/>
          </a:xfrm>
          <a:prstGeom prst="ellipse">
            <a:avLst/>
          </a:prstGeom>
          <a:solidFill>
            <a:srgbClr val="5B2A9D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29" name="Image 6" descr="/tmp/claude-0/-home-user-BrainWerks-/5a83b660-f2d0-5112-a440-0945fe0cbab1/scratchpad/deck/assets/loop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5008" y="3749040"/>
            <a:ext cx="420624" cy="4206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32904" y="4480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Train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7324344" y="487375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examples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9290304" y="402336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4"/>
          <p:cNvSpPr/>
          <p:nvPr/>
        </p:nvSpPr>
        <p:spPr>
          <a:xfrm>
            <a:off x="9454896" y="3246120"/>
            <a:ext cx="2084832" cy="2148840"/>
          </a:xfrm>
          <a:prstGeom prst="roundRect">
            <a:avLst>
              <a:gd name="adj" fmla="val 4386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10040112" y="3502152"/>
            <a:ext cx="914400" cy="914400"/>
          </a:xfrm>
          <a:prstGeom prst="ellipse">
            <a:avLst/>
          </a:prstGeom>
          <a:solidFill>
            <a:srgbClr val="FB7185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35" name="Image 7" descr="/tmp/claude-0/-home-user-BrainWerks-/5a83b660-f2d0-5112-a440-0945fe0cbab1/scratchpad/deck/assets/trophy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3749040"/>
            <a:ext cx="420624" cy="42062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454896" y="4480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Score it</a:t>
            </a:r>
            <a:endParaRPr lang="en-US" sz="1500" dirty="0"/>
          </a:p>
        </p:txBody>
      </p:sp>
      <p:sp>
        <p:nvSpPr>
          <p:cNvPr id="37" name="Text 27"/>
          <p:cNvSpPr/>
          <p:nvPr/>
        </p:nvSpPr>
        <p:spPr>
          <a:xfrm>
            <a:off x="9546336" y="487375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C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</a:t>
            </a:r>
            <a:endParaRPr lang="en-US" sz="1150" dirty="0"/>
          </a:p>
        </p:txBody>
      </p:sp>
      <p:sp>
        <p:nvSpPr>
          <p:cNvPr id="38" name="Text 28"/>
          <p:cNvSpPr/>
          <p:nvPr/>
        </p:nvSpPr>
        <p:spPr>
          <a:xfrm>
            <a:off x="566928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9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= getting the data ready.  Steps 4–5 = the AI.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THE RAW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EEG data really is: a table of numbers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the headset, EEG is just a giant spreadsheet. Here are the first few rows from a tiny 3-sensor recording: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94560"/>
          <a:ext cx="9141714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17320"/>
                <a:gridCol w="141732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(ms)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4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  (µV)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  (µV)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  (µV)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9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+2.1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+0.9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+2.4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+3.0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+2.6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2194560"/>
            <a:ext cx="5193792" cy="1170432"/>
          </a:xfrm>
          <a:prstGeom prst="roundRect">
            <a:avLst>
              <a:gd name="adj" fmla="val 7813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29400" y="2414016"/>
            <a:ext cx="731520" cy="73152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8" name="Image 0" descr="/tmp/claude-0/-home-user-BrainWerks-/5a83b660-f2d0-5112-a440-0945fe0cbab1/scratchpad/deck/assets/column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6910" y="2611526"/>
            <a:ext cx="336499" cy="3364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0" y="234086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COLUMN = one channel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7498080" y="270662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electrode on the head (C3, Cz, C4 sit over the motor area).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46520" y="3474720"/>
            <a:ext cx="5193792" cy="1170432"/>
          </a:xfrm>
          <a:prstGeom prst="roundRect">
            <a:avLst>
              <a:gd name="adj" fmla="val 7813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29400" y="3694176"/>
            <a:ext cx="731520" cy="73152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3" name="Image 1" descr="/tmp/claude-0/-home-user-BrainWerks-/5a83b660-f2d0-5112-a440-0945fe0cbab1/scratchpad/deck/assets/c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910" y="3891686"/>
            <a:ext cx="336499" cy="3364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0" y="362102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ROW = one moment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498080" y="39867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every 4 ms — that's 250 rows every second (250 Hz).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46520" y="4754880"/>
            <a:ext cx="5193792" cy="1170432"/>
          </a:xfrm>
          <a:prstGeom prst="roundRect">
            <a:avLst>
              <a:gd name="adj" fmla="val 7813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629400" y="4974336"/>
            <a:ext cx="731520" cy="73152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8" name="Image 2" descr="/tmp/claude-0/-home-user-BrainWerks-/5a83b660-f2d0-5112-a440-0945fe0cbab1/scratchpad/deck/assets/rule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910" y="5171846"/>
            <a:ext cx="336499" cy="33649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0" y="49011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NUMBER = a voltage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498080" y="526694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tiny brain signal in microvolts (µV). Millionths of a volt!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THAT UNLOCKS EVERYTHING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words: channel, time, trial,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440680" cy="1965960"/>
          </a:xfrm>
          <a:prstGeom prst="roundRect">
            <a:avLst>
              <a:gd name="adj" fmla="val 5116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67128"/>
            <a:ext cx="960120" cy="96012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6" name="Image 0" descr="/tmp/claude-0/-home-user-BrainWerks-/5a83b660-f2d0-5112-a440-0945fe0cbab1/scratchpad/deck/assets/column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480" y="2426360"/>
            <a:ext cx="441655" cy="4416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84248" y="21854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9536" y="289864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electrode = one column of numbers. More channels = more spots on the head listening at once.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0488" y="1874520"/>
            <a:ext cx="5440680" cy="1965960"/>
          </a:xfrm>
          <a:prstGeom prst="roundRect">
            <a:avLst>
              <a:gd name="adj" fmla="val 5116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167128"/>
            <a:ext cx="960120" cy="96012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1" name="Image 1" descr="/tmp/claude-0/-home-user-BrainWerks-/5a83b660-f2d0-5112-a440-0945fe0cbab1/scratchpad/deck/assets/c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040" y="2426360"/>
            <a:ext cx="441655" cy="4416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07808" y="21854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83096" y="289864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 in a row, called samples. At 250 Hz, 250 samples = 1 second of signal.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4041648"/>
            <a:ext cx="5440680" cy="1965960"/>
          </a:xfrm>
          <a:prstGeom prst="roundRect">
            <a:avLst>
              <a:gd name="adj" fmla="val 5116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34256"/>
            <a:ext cx="960120" cy="96012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6" name="Image 2" descr="/tmp/claude-0/-home-user-BrainWerks-/5a83b660-f2d0-5112-a440-0945fe0cbab1/scratchpad/deck/assets/cu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80" y="4593488"/>
            <a:ext cx="441655" cy="4416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84248" y="435254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 ( = EPOCH )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9536" y="5065776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short, equal-length clip of signal — cut out around one thing the person did.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90488" y="4041648"/>
            <a:ext cx="5440680" cy="1965960"/>
          </a:xfrm>
          <a:prstGeom prst="roundRect">
            <a:avLst>
              <a:gd name="adj" fmla="val 5116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334256"/>
            <a:ext cx="960120" cy="960120"/>
          </a:xfrm>
          <a:prstGeom prst="ellipse">
            <a:avLst/>
          </a:prstGeom>
          <a:solidFill>
            <a:srgbClr val="FB7185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21" name="Image 3" descr="/tmp/claude-0/-home-user-BrainWerks-/5a83b660-f2d0-5112-a440-0945fe0cbab1/scratchpad/deck/assets/tag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040" y="4593488"/>
            <a:ext cx="441655" cy="4416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07808" y="435254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3D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483096" y="5065776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we want to predict for each clip. E.g. Left hand vs. Right hand vs. Feet vs. Tongue.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ZOOMING INTO TIME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= snapshots: the movie-frames idea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400" b="1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one voltage measured at one exact instant — a snapshot. </a:t>
            </a:r>
            <a:pPr indent="0" marL="0">
              <a:buNone/>
            </a:pPr>
            <a:r>
              <a:rPr lang="en-US" sz="1400" b="1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Hz</a:t>
            </a:r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250 of those snapshots every second.</a:t>
            </a:r>
            <a:endParaRPr lang="en-US" sz="1400" dirty="0"/>
          </a:p>
        </p:txBody>
      </p:sp>
      <p:pic>
        <p:nvPicPr>
          <p:cNvPr id="5" name="Image 0" descr="/tmp/claude-0/-home-user-BrainWerks-/5a83b660-f2d0-5112-a440-0945fe0cbab1/scratchpad/deck/assets/samp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11064240" cy="2578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526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amber dot = one sample.  </a:t>
            </a:r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film strip shows each snapshot as a frame — play them in a row and you get a movie of the wave.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" y="5029200"/>
            <a:ext cx="5486400" cy="1417320"/>
          </a:xfrm>
          <a:prstGeom prst="roundRect">
            <a:avLst>
              <a:gd name="adj" fmla="val 7097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" y="5230368"/>
            <a:ext cx="822960" cy="82296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9" name="Image 1" descr="/tmp/claude-0/-home-user-BrainWerks-/5a83b660-f2d0-5112-a440-0945fe0cbab1/scratchpad/deck/assets/clo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" y="5452567"/>
            <a:ext cx="378562" cy="3785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55648" y="5138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movie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755648" y="548640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motion is really many still frames shown fast. 1024 samples ÷ 250/sec ≈ 4 seconds of signal per clip.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72200" y="5029200"/>
            <a:ext cx="5468112" cy="1417320"/>
          </a:xfrm>
          <a:prstGeom prst="roundRect">
            <a:avLst>
              <a:gd name="adj" fmla="val 6452"/>
            </a:avLst>
          </a:prstGeom>
          <a:solidFill>
            <a:srgbClr val="241356"/>
          </a:solidFill>
          <a:ln/>
        </p:spPr>
      </p:sp>
      <p:sp>
        <p:nvSpPr>
          <p:cNvPr id="13" name="Shape 9"/>
          <p:cNvSpPr/>
          <p:nvPr/>
        </p:nvSpPr>
        <p:spPr>
          <a:xfrm>
            <a:off x="6355080" y="5230368"/>
            <a:ext cx="822960" cy="82296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4" name="Image 2" descr="/tmp/claude-0/-home-user-BrainWerks-/5a83b660-f2d0-5112-a440-0945fe0cbab1/scratchpad/deck/assets/bol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79" y="5452567"/>
            <a:ext cx="378562" cy="3785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60920" y="5138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it go up &amp; down?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360920" y="5486400"/>
            <a:ext cx="4114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rises and falls because your neurons keep firing in changing amounts — more firing in sync → bigger voltage, fewer → smaller. Your brain never holds still, so the number changes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B2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CHOICE · HOW LONG IS A CLIP?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 length = samples ÷ Hz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241356"/>
          </a:solidFill>
          <a:ln/>
          <a:effectLst>
            <a:outerShdw sx="100000" sy="100000" kx="0" ky="0" algn="bl" rotWithShape="0" blurRad="88900" dist="38100" dir="5400000">
              <a:srgbClr val="1A163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4592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 length (seconds)   =   </a:t>
            </a:r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samples in the clip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÷   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sampling rate (Hz)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0848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tutorial:   </a:t>
            </a:r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pPr indent="0" marL="0">
              <a:buNone/>
            </a:pPr>
            <a:r>
              <a:rPr lang="en-US" sz="1400" dirty="0">
                <a:solidFill>
                  <a:srgbClr val="CFC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÷ 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≈   4 seconds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2788920"/>
          <a:ext cx="914171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73736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4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(Hz)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4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length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4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64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1024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E7C6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≈ 4.1 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5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E7C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 the tutorial's choice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5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1024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26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B26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≈ 2.0 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A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same samples, FASTER rate → shorter!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2048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≈ 8.2 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samples → longer clip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512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≈ 2.0 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samples → shorter clip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5349240"/>
            <a:ext cx="11064240" cy="1143000"/>
          </a:xfrm>
          <a:prstGeom prst="roundRect">
            <a:avLst>
              <a:gd name="adj" fmla="val 8800"/>
            </a:avLst>
          </a:prstGeom>
          <a:solidFill>
            <a:srgbClr val="1E1B34"/>
          </a:solidFill>
          <a:ln/>
          <a:effectLst>
            <a:outerShdw sx="100000" sy="100000" kx="0" ky="0" algn="bl" rotWithShape="0" blurRad="88900" dist="38100" dir="5400000">
              <a:srgbClr val="1A1636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5532120"/>
            <a:ext cx="822960" cy="82296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0" name="Image 0" descr="/tmp/claude-0/-home-user-BrainWerks-/5a83b660-f2d0-5112-a440-0945fe0cbab1/scratchpad/deck/assets/bulb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" y="5754319"/>
            <a:ext cx="378562" cy="3785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47088" y="5449824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like a pipeline builder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847088" y="57790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Hz does NOT mean more seconds. </a:t>
            </a:r>
            <a:pPr indent="0" marL="0">
              <a:buNone/>
            </a:pPr>
            <a:r>
              <a:rPr lang="en-US" sz="125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sampling just packs the same snapshots closer together. To capture a LONGER clip you must keep MORE samples — so every scientist building a data pipeline balances these two knobs on purpose.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MAKING EPOCHS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 the recording into ‘epochs’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recording is long and continuous. We chop it into equal-length clips — one around each moment the person did a task. Each clip is an EPOCH, and it gets a label.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F1F3A"/>
          </a:solidFill>
          <a:ln/>
        </p:spPr>
      </p:sp>
      <p:pic>
        <p:nvPicPr>
          <p:cNvPr id="6" name="Image 0" descr="/tmp/claude-0/-home-user-BrainWerks-/5a83b660-f2d0-5112-a440-0945fe0cbab1/scratchpad/deck/assets/wav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2514600"/>
            <a:ext cx="1078992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33088" y="2331720"/>
            <a:ext cx="0" cy="1051560"/>
          </a:xfrm>
          <a:prstGeom prst="line">
            <a:avLst/>
          </a:prstGeom>
          <a:noFill/>
          <a:ln w="25400">
            <a:solidFill>
              <a:srgbClr val="FBBF24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7424928" y="2331720"/>
            <a:ext cx="0" cy="1051560"/>
          </a:xfrm>
          <a:prstGeom prst="line">
            <a:avLst/>
          </a:prstGeom>
          <a:noFill/>
          <a:ln w="25400">
            <a:solidFill>
              <a:srgbClr val="FBBF24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0625328" y="2331720"/>
            <a:ext cx="0" cy="1051560"/>
          </a:xfrm>
          <a:prstGeom prst="line">
            <a:avLst/>
          </a:prstGeom>
          <a:noFill/>
          <a:ln w="25400">
            <a:solidFill>
              <a:srgbClr val="FBBF24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749808" y="3127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long recording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cut into equal clips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3931920"/>
            <a:ext cx="3593592" cy="1417320"/>
          </a:xfrm>
          <a:prstGeom prst="roundRect">
            <a:avLst>
              <a:gd name="adj" fmla="val 7097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pic>
        <p:nvPicPr>
          <p:cNvPr id="13" name="Image 1" descr="/tmp/claude-0/-home-user-BrainWerks-/5a83b660-f2d0-5112-a440-0945fe0cbab1/scratchpad/deck/assets/wave_amber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749808" y="4114800"/>
            <a:ext cx="3227832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459028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 1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49808" y="493776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0 · Left hand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06824" y="3931920"/>
            <a:ext cx="3593592" cy="1417320"/>
          </a:xfrm>
          <a:prstGeom prst="roundRect">
            <a:avLst>
              <a:gd name="adj" fmla="val 7097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pic>
        <p:nvPicPr>
          <p:cNvPr id="17" name="Image 2" descr="/tmp/claude-0/-home-user-BrainWerks-/5a83b660-f2d0-5112-a440-0945fe0cbab1/scratchpad/deck/assets/wave_amber.png">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489704" y="4114800"/>
            <a:ext cx="3227832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89704" y="459028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 2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489704" y="493776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8F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1 · Right hand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046720" y="3931920"/>
            <a:ext cx="3593592" cy="1417320"/>
          </a:xfrm>
          <a:prstGeom prst="roundRect">
            <a:avLst>
              <a:gd name="adj" fmla="val 7097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pic>
        <p:nvPicPr>
          <p:cNvPr id="21" name="Image 3" descr="/tmp/claude-0/-home-user-BrainWerks-/5a83b660-f2d0-5112-a440-0945fe0cbab1/scratchpad/deck/assets/wave_amber.png">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8229600" y="4114800"/>
            <a:ext cx="3227832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0" y="459028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 3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0" y="493776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0 · Left hand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66928" y="55778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241356"/>
          </a:solidFill>
          <a:ln/>
        </p:spPr>
      </p:sp>
      <p:sp>
        <p:nvSpPr>
          <p:cNvPr id="25" name="Text 19"/>
          <p:cNvSpPr/>
          <p:nvPr/>
        </p:nvSpPr>
        <p:spPr>
          <a:xfrm>
            <a:off x="841248" y="5577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(in EEG) =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trial = one equal-length slice of brain signal, tagged with its class.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CLIP TO LABELED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clip gets its class — and stays in time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questions: how does a clip get its answer (class), and how do we cut it at exactly the right spot?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0F1F3A"/>
          </a:solidFill>
          <a:ln/>
        </p:spPr>
      </p:sp>
      <p:pic>
        <p:nvPicPr>
          <p:cNvPr id="6" name="Image 0" descr="/tmp/claude-0/-home-user-BrainWerks-/5a83b660-f2d0-5112-a440-0945fe0cbab1/scratchpad/deck/assets/wave_cyan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95528" y="2542032"/>
            <a:ext cx="1060704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90088" y="2194560"/>
            <a:ext cx="0" cy="1463040"/>
          </a:xfrm>
          <a:prstGeom prst="line">
            <a:avLst/>
          </a:prstGeom>
          <a:noFill/>
          <a:ln w="31750">
            <a:solidFill>
              <a:srgbClr val="FBBF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75688" y="2157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CUE  ▶  t = 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99816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says: “imagine LEFT hand”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90088" y="3127248"/>
            <a:ext cx="3977640" cy="502920"/>
          </a:xfrm>
          <a:prstGeom prst="roundRect">
            <a:avLst>
              <a:gd name="adj" fmla="val 9091"/>
            </a:avLst>
          </a:prstGeom>
          <a:solidFill>
            <a:srgbClr val="FBBF24">
              <a:alpha val="4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81528" y="312724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3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window = next 1024 samples (≈ 4 s)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50608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 = Left hand (0)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66928" y="4114800"/>
            <a:ext cx="5440680" cy="1965960"/>
          </a:xfrm>
          <a:prstGeom prst="roundRect">
            <a:avLst>
              <a:gd name="adj" fmla="val 5116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95528" y="4370832"/>
            <a:ext cx="868680" cy="868680"/>
          </a:xfrm>
          <a:prstGeom prst="ellipse">
            <a:avLst/>
          </a:prstGeom>
          <a:solidFill>
            <a:srgbClr val="FB7185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5" name="Image 1" descr="/tmp/claude-0/-home-user-BrainWerks-/5a83b660-f2d0-5112-a440-0945fe0cbab1/scratchpad/deck/assets/tag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072" y="4605376"/>
            <a:ext cx="399593" cy="3995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01368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label comes from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41248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recording, the computer also logs WHAT the person was told to do — an event marker (a “trigger”) stamped at that instant. The clip cut around that marker inherits the cue as its class.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99632" y="4114800"/>
            <a:ext cx="5440680" cy="1965960"/>
          </a:xfrm>
          <a:prstGeom prst="roundRect">
            <a:avLst>
              <a:gd name="adj" fmla="val 5116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28232" y="4370832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20" name="Image 2" descr="/tmp/claude-0/-home-user-BrainWerks-/5a83b660-f2d0-5112-a440-0945fe0cbab1/scratchpad/deck/assets/clock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776" y="4605376"/>
            <a:ext cx="399593" cy="3995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34072" y="4389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timing stays exact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73952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samples and the event markers share the SAME clock. Each cue lands on a known sample number, so we cut a fixed window (1024 samples) starting right at the cue — every epoch lines up and is equal length.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66928" y="6217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shared clock is why the sampling rate (Hz) matters — it's the ruler both the brain signal and the cues are measured against.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ZOOMING INTO ONE EPOCH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one epoch — and the whole ‘block’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AI we flip the table: each channel is a ROW, each time-sample a COLUMN. Same numbers as Step 1 — just arranged for the model.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40280"/>
          <a:ext cx="9141714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58368"/>
                <a:gridCol w="658368"/>
                <a:gridCol w="658368"/>
                <a:gridCol w="658368"/>
                <a:gridCol w="457200"/>
                <a:gridCol w="8229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7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t1023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7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+2.1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+1.8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+2.4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+3.0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9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1B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114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epoch = a (channels × time) grid = (3 × 1024)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4480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channels tall, 1024 time-samples wide (about 4 seconds).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92240" y="2240280"/>
            <a:ext cx="5148072" cy="3794760"/>
          </a:xfrm>
          <a:prstGeom prst="roundRect">
            <a:avLst>
              <a:gd name="adj" fmla="val 2651"/>
            </a:avLst>
          </a:prstGeom>
          <a:solidFill>
            <a:srgbClr val="241356"/>
          </a:solidFill>
          <a:ln/>
          <a:effectLst>
            <a:outerShdw sx="100000" sy="100000" kx="0" ky="0" algn="bl" rotWithShape="0" blurRad="88900" dist="38100" dir="5400000">
              <a:srgbClr val="1A1636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20840" y="23957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every epoch → the dataset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20840" y="285292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600" b="1" dirty="0">
                <a:solidFill>
                  <a:srgbClr val="CFC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 brain clips
</a:t>
            </a:r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trials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channels</a:t>
            </a:r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time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2084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( 100 , 3 , 1024 )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720840" y="42062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pPr indent="0" marL="0">
              <a:buNone/>
            </a:pPr>
            <a:r>
              <a:rPr lang="en-US" sz="1500" dirty="0">
                <a:solidFill>
                  <a:srgbClr val="CFC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one label per clip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[ 0, 1, 0, 3, 2, 1, … ]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20840" y="52578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Left hand   ·   1 = Right hand   ·   2 = Feet   ·   3 = Tongue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PREPARING THE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data ‘AI-ready’ — and why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400800" cy="786384"/>
          </a:xfrm>
          <a:prstGeom prst="roundRect">
            <a:avLst>
              <a:gd name="adj" fmla="val 12791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11096"/>
            <a:ext cx="530352" cy="530352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6" name="Image 0" descr="/tmp/claude-0/-home-user-BrainWerks-/5a83b660-f2d0-5112-a440-0945fe0cbab1/scratchpad/deck/assets/heads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427" y="2054291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87452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right channels &amp; units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35608" y="218541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EEG sensors, all in the same units (µV).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2660904"/>
            <a:ext cx="6400800" cy="786384"/>
          </a:xfrm>
          <a:prstGeom prst="roundRect">
            <a:avLst>
              <a:gd name="adj" fmla="val 12791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788920"/>
            <a:ext cx="530352" cy="530352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1" name="Image 1" descr="/tmp/claude-0/-home-user-BrainWerks-/5a83b660-f2d0-5112-a440-0945fe0cbab1/scratchpad/deck/assets/filte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27" y="2932115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35608" y="275234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out the junk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35608" y="306324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brain rhythms (≈4–38 Hz); drop slow drift and electrical noise.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" y="3538728"/>
            <a:ext cx="6400800" cy="786384"/>
          </a:xfrm>
          <a:prstGeom prst="roundRect">
            <a:avLst>
              <a:gd name="adj" fmla="val 12791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666744"/>
            <a:ext cx="530352" cy="530352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6" name="Image 2" descr="/tmp/claude-0/-home-user-BrainWerks-/5a83b660-f2d0-5112-a440-0945fe0cbab1/scratchpad/deck/assets/ruler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" y="3809939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35608" y="363016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every epoch equal length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35608" y="3941064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of time-samples in every clip — no exceptions.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6928" y="4416552"/>
            <a:ext cx="6400800" cy="786384"/>
          </a:xfrm>
          <a:prstGeom prst="roundRect">
            <a:avLst>
              <a:gd name="adj" fmla="val 12791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4544568"/>
            <a:ext cx="530352" cy="530352"/>
          </a:xfrm>
          <a:prstGeom prst="ellipse">
            <a:avLst/>
          </a:prstGeom>
          <a:solidFill>
            <a:srgbClr val="5B2A9D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21" name="Image 3" descr="/tmp/claude-0/-home-user-BrainWerks-/5a83b660-f2d0-5112-a440-0945fe0cbab1/scratchpad/deck/assets/tabl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427" y="4687763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35608" y="450799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Arrange into (trials, channels, time)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435608" y="4818888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to the exact block the model expects.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66928" y="5294376"/>
            <a:ext cx="6400800" cy="786384"/>
          </a:xfrm>
          <a:prstGeom prst="roundRect">
            <a:avLst>
              <a:gd name="adj" fmla="val 12791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13232" y="5422392"/>
            <a:ext cx="530352" cy="530352"/>
          </a:xfrm>
          <a:prstGeom prst="ellipse">
            <a:avLst/>
          </a:prstGeom>
          <a:solidFill>
            <a:srgbClr val="FB7185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26" name="Image 4" descr="/tmp/claude-0/-home-user-BrainWerks-/5a83b660-f2d0-5112-a440-0945fe0cbab1/scratchpad/deck/assets/tag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427" y="5565587"/>
            <a:ext cx="243962" cy="2439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35608" y="538581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epoch to its label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35608" y="569671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clip in X lines up with its answer in y.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315200" y="1783080"/>
            <a:ext cx="4325112" cy="4251960"/>
          </a:xfrm>
          <a:prstGeom prst="roundRect">
            <a:avLst>
              <a:gd name="adj" fmla="val 2366"/>
            </a:avLst>
          </a:prstGeom>
          <a:solidFill>
            <a:srgbClr val="1E1B34"/>
          </a:solidFill>
          <a:ln/>
          <a:effectLst>
            <a:outerShdw sx="100000" sy="100000" kx="0" ky="0" algn="bl" rotWithShape="0" blurRad="88900" dist="38100" dir="5400000">
              <a:srgbClr val="1A1636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589520" y="2057400"/>
            <a:ext cx="868680" cy="86868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31" name="Image 5" descr="/tmp/claude-0/-home-user-BrainWerks-/5a83b660-f2d0-5112-a440-0945fe0cbab1/scratchpad/deck/assets/bulb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4064" y="2291944"/>
            <a:ext cx="399593" cy="3995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95360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bother?</a:t>
            </a:r>
            <a:endParaRPr lang="en-US" sz="1900" dirty="0"/>
          </a:p>
        </p:txBody>
      </p:sp>
      <p:sp>
        <p:nvSpPr>
          <p:cNvPr id="33" name="Text 25"/>
          <p:cNvSpPr/>
          <p:nvPr/>
        </p:nvSpPr>
        <p:spPr>
          <a:xfrm>
            <a:off x="7589520" y="3154680"/>
            <a:ext cx="3794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needs every example the SAME shape and scale — like a form with fixed boxes.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that isn't brain (blinks, hums) would fool the learning.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lengths or units = the model can't compare clips fairly.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7589520" y="5623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 → garbage out.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41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rainWerks-/5a83b660-f2d0-5112-a440-0945fe0cbab1/scratchpad/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claude-0/-home-user-BrainWerks-/5a83b660-f2d0-5112-a440-0945fe0cbab1/scratchpad/deck/assets/wave_cyan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6035040"/>
            <a:ext cx="12188952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TRAINING THE MODEL</a:t>
            </a:r>
            <a:endParaRPr lang="en-US" sz="1250" dirty="0"/>
          </a:p>
        </p:txBody>
      </p:sp>
      <p:sp>
        <p:nvSpPr>
          <p:cNvPr id="5" name="Text 1"/>
          <p:cNvSpPr/>
          <p:nvPr/>
        </p:nvSpPr>
        <p:spPr>
          <a:xfrm>
            <a:off x="566928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actually learns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66928" y="19659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241A54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95528" y="2212848"/>
            <a:ext cx="868680" cy="86868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8" name="Image 2" descr="/tmp/claude-0/-home-user-BrainWerks-/5a83b660-f2d0-5112-a440-0945fe0cbab1/scratchpad/deck/assets/balanc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072" y="2447392"/>
            <a:ext cx="399593" cy="39959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01368" y="2121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the epochs first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1801368" y="248716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→ TRAINING (to learn from).  Some held back → VALIDATION (a practice test).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6263640" y="1965960"/>
            <a:ext cx="5376672" cy="1371600"/>
          </a:xfrm>
          <a:prstGeom prst="roundRect">
            <a:avLst>
              <a:gd name="adj" fmla="val 6667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492240" y="2212848"/>
            <a:ext cx="868680" cy="868680"/>
          </a:xfrm>
          <a:prstGeom prst="ellipse">
            <a:avLst/>
          </a:prstGeom>
          <a:solidFill>
            <a:srgbClr val="5B2A9D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3" name="Image 3" descr="/tmp/claude-0/-home-user-BrainWerks-/5a83b660-f2d0-5112-a440-0945fe0cbab1/scratchpad/deck/assets/loop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784" y="2447392"/>
            <a:ext cx="399593" cy="39959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98080" y="2121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learning loop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498080" y="248716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clip ▸ model guesses a class ▸ compare to the true label ▸ nudge it to be more right. Repeat!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66928" y="37033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B12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76656" y="3794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76656" y="41148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brain clip (X)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2624328" y="3977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2798064" y="37033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B12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907792" y="3794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2907792" y="41148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guesses a class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855464" y="3977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029200" y="37033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B12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138928" y="3794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138928" y="41148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vs. true label (y)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086600" y="3977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7260336" y="37033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B12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370064" y="3794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370064" y="41148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the model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9317736" y="3977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491472" y="370332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1B12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601200" y="3794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601200" y="41148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Repeat, many passes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66928" y="49834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36" name="Text 30"/>
          <p:cNvSpPr/>
          <p:nvPr/>
        </p:nvSpPr>
        <p:spPr>
          <a:xfrm>
            <a:off x="795528" y="50292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4E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3000" dirty="0"/>
          </a:p>
        </p:txBody>
      </p:sp>
      <p:sp>
        <p:nvSpPr>
          <p:cNvPr id="37" name="Text 31"/>
          <p:cNvSpPr/>
          <p:nvPr/>
        </p:nvSpPr>
        <p:spPr>
          <a:xfrm>
            <a:off x="1527048" y="502920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— two meanings of ‘epoch’!  </a:t>
            </a:r>
            <a:pPr indent="0" marL="0">
              <a:buNone/>
            </a:pPr>
            <a:r>
              <a:rPr lang="en-US" sz="1300" dirty="0">
                <a:solidFill>
                  <a:srgbClr val="5A3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EEG, an epoch is one brain clip. In training, an ‘epoch’ means one full pass through ALL the training clips. Our run did 10 training epochs (passes).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MEASURING ACCURACY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good is it? Grading on unseen clips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the trained model on the VALIDATION clips it NEVER saw during training.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clip it predicts a class; we compare to the true answer.</a:t>
            </a:r>
            <a:endParaRPr lang="en-US" sz="14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unseen data? To prove it LEARNED the pattern — not just MEMORIZED answers.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4206240"/>
            <a:ext cx="5943600" cy="960120"/>
          </a:xfrm>
          <a:prstGeom prst="roundRect">
            <a:avLst>
              <a:gd name="adj" fmla="val 9524"/>
            </a:avLst>
          </a:prstGeom>
          <a:solidFill>
            <a:srgbClr val="241356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420624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 = </a:t>
            </a:r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clips it got right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÷  </a:t>
            </a:r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clips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5303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 → pure guessing ≈ 25%.  At or below that = it didn't really learn.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92240" y="1737360"/>
            <a:ext cx="5148072" cy="3063240"/>
          </a:xfrm>
          <a:prstGeom prst="roundRect">
            <a:avLst>
              <a:gd name="adj" fmla="val 2985"/>
            </a:avLst>
          </a:prstGeom>
          <a:solidFill>
            <a:srgbClr val="1E1B34"/>
          </a:solidFill>
          <a:ln/>
          <a:effectLst>
            <a:outerShdw sx="100000" sy="100000" kx="0" ky="0" algn="bl" rotWithShape="0" blurRad="88900" dist="38100" dir="5400000">
              <a:srgbClr val="1A1636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random-noise run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219456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FE7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epoch   valid_acc   valid_loss
------- ---------- ----------
      1     0.150      72.909
      2     0.150      72.909
     ...
     10     0.150      72.909
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0" y="406908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valid_acc </a:t>
            </a:r>
            <a:pPr indent="0" marL="0">
              <a:buNone/>
            </a:pPr>
            <a:r>
              <a:rPr lang="en-US" sz="12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score. Stuck at ~0.15 → the model correctly learned NOTHING from noise.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4983480"/>
            <a:ext cx="5148072" cy="960120"/>
          </a:xfrm>
          <a:prstGeom prst="roundRect">
            <a:avLst>
              <a:gd name="adj" fmla="val 9524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498348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brain data, this same number climbs well above 25% as the model finds real patterns.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STEPS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pipeline — in a few lines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you just learned maps to one or two lines of code: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7040880" cy="3931920"/>
          </a:xfrm>
          <a:prstGeom prst="roundRect">
            <a:avLst>
              <a:gd name="adj" fmla="val 2326"/>
            </a:avLst>
          </a:prstGeom>
          <a:solidFill>
            <a:srgbClr val="16112E"/>
          </a:solidFill>
          <a:ln/>
          <a:effectLst>
            <a:outerShdw sx="100000" sy="100000" kx="0" ky="0" algn="bl" rotWithShape="0" blurRad="88900" dist="38100" dir="5400000">
              <a:srgbClr val="1A1636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95528" y="2240280"/>
            <a:ext cx="6583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np.random.randn(100, 3, 1024)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FE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np.random.randint(0, 4, 100)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 = mne.EpochsArray(X, info)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= EEGClassifier(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F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"ShallowFBCSPNet")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C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net.fit(epochs, y)
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8C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net.score(epochs, y)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818120" y="2286000"/>
            <a:ext cx="3822192" cy="566928"/>
          </a:xfrm>
          <a:prstGeom prst="roundRect">
            <a:avLst>
              <a:gd name="adj" fmla="val 12903"/>
            </a:avLst>
          </a:prstGeom>
          <a:solidFill>
            <a:srgbClr val="F2F3FA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2432304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22860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Get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3063240"/>
            <a:ext cx="3822192" cy="566928"/>
          </a:xfrm>
          <a:prstGeom prst="roundRect">
            <a:avLst>
              <a:gd name="adj" fmla="val 12903"/>
            </a:avLst>
          </a:prstGeom>
          <a:solidFill>
            <a:srgbClr val="F2F3FA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73568" y="3209544"/>
            <a:ext cx="274320" cy="2743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30632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Make epochs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3611880"/>
            <a:ext cx="3822192" cy="566928"/>
          </a:xfrm>
          <a:prstGeom prst="roundRect">
            <a:avLst>
              <a:gd name="adj" fmla="val 12903"/>
            </a:avLst>
          </a:prstGeom>
          <a:solidFill>
            <a:srgbClr val="F2F3FA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3758184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3611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Prepare (auto)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18120" y="4343400"/>
            <a:ext cx="3822192" cy="566928"/>
          </a:xfrm>
          <a:prstGeom prst="roundRect">
            <a:avLst>
              <a:gd name="adj" fmla="val 12903"/>
            </a:avLst>
          </a:prstGeom>
          <a:solidFill>
            <a:srgbClr val="F2F3FA"/>
          </a:solidFill>
          <a:ln w="15875">
            <a:solidFill>
              <a:srgbClr val="5B2A9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4489704"/>
            <a:ext cx="274320" cy="274320"/>
          </a:xfrm>
          <a:prstGeom prst="ellipse">
            <a:avLst/>
          </a:prstGeom>
          <a:solidFill>
            <a:srgbClr val="5B2A9D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43434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Train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18120" y="5074920"/>
            <a:ext cx="3822192" cy="566928"/>
          </a:xfrm>
          <a:prstGeom prst="roundRect">
            <a:avLst>
              <a:gd name="adj" fmla="val 12903"/>
            </a:avLst>
          </a:prstGeom>
          <a:solidFill>
            <a:srgbClr val="F2F3FA"/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73568" y="5221224"/>
            <a:ext cx="274320" cy="27432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50749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Score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braindecode even does most of Step 3 for you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41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rainWerks-/5a83b660-f2d0-5112-a440-0945fe0cbab1/scratchpad/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claude-0/-home-user-BrainWerks-/5a83b660-f2d0-5112-a440-0945fe0cbab1/scratchpad/deck/assets/wave_amber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6035040"/>
            <a:ext cx="12188952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66928" y="640080"/>
            <a:ext cx="1051560" cy="105156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5" name="Image 2" descr="/tmp/claude-0/-home-user-BrainWerks-/5a83b660-f2d0-5112-a440-0945fe0cbab1/scratchpad/deck/assets/bulb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49" y="924001"/>
            <a:ext cx="483718" cy="48371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801368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50" dirty="0"/>
          </a:p>
        </p:txBody>
      </p:sp>
      <p:sp>
        <p:nvSpPr>
          <p:cNvPr id="7" name="Text 2"/>
          <p:cNvSpPr/>
          <p:nvPr/>
        </p:nvSpPr>
        <p:spPr>
          <a:xfrm>
            <a:off x="1801368" y="98755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low score is the RIGHT answer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566928" y="22860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fed the model pure random noise. There was no real pattern to find — so an honest model should do no better than guessing.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566928" y="3291840"/>
            <a:ext cx="11064240" cy="1737360"/>
          </a:xfrm>
          <a:prstGeom prst="roundRect">
            <a:avLst>
              <a:gd name="adj" fmla="val 5789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86968" y="3611880"/>
            <a:ext cx="1051560" cy="1051560"/>
          </a:xfrm>
          <a:prstGeom prst="ellipse">
            <a:avLst/>
          </a:prstGeom>
          <a:solidFill>
            <a:srgbClr val="2DD4BF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11" name="Image 3" descr="/tmp/claude-0/-home-user-BrainWerks-/5a83b660-f2d0-5112-a440-0945fe0cbab1/scratchpad/deck/assets/bulb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889" y="3895801"/>
            <a:ext cx="483718" cy="4837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167128" y="3474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Flashcard analogy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2167128" y="38404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C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flashcards have random gibberish on both sides, no amount of studying will help. 4 classes → guessing is right about 1 in 4 (~25%). Our tiny test set landed at ~15%. That's the model correctly finding… nothing.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66928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The pipeline works. Now we just need REAL brain data with REAL patterns.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in real brains → it learns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— real motor-imagery EEG instead of random noise — and the exact same 5 steps start working.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5440680" cy="3108960"/>
          </a:xfrm>
          <a:prstGeom prst="roundRect">
            <a:avLst>
              <a:gd name="adj" fmla="val 3235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noise (this tutorial)</a:t>
            </a:r>
            <a:endParaRPr lang="en-US" sz="1600" dirty="0"/>
          </a:p>
        </p:txBody>
      </p:sp>
      <p:pic>
        <p:nvPicPr>
          <p:cNvPr id="7" name="Image 0" descr="/tmp/claude-0/-home-user-BrainWerks-/5a83b660-f2d0-5112-a440-0945fe0cbab1/scratchpad/deck/assets/wave_cyan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841248" y="3291840"/>
            <a:ext cx="489204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886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B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~25%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41248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pure guessing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9632" y="2651760"/>
            <a:ext cx="5440680" cy="3108960"/>
          </a:xfrm>
          <a:prstGeom prst="roundRect">
            <a:avLst>
              <a:gd name="adj" fmla="val 3235"/>
            </a:avLst>
          </a:prstGeom>
          <a:solidFill>
            <a:srgbClr val="241356"/>
          </a:solidFill>
          <a:ln/>
          <a:effectLst>
            <a:outerShdw sx="100000" sy="100000" kx="0" ky="0" algn="bl" rotWithShape="0" blurRad="88900" dist="38100" dir="5400000">
              <a:srgbClr val="1A1636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73952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‘imagine moving’ EEG</a:t>
            </a:r>
            <a:endParaRPr lang="en-US" sz="1600" dirty="0"/>
          </a:p>
        </p:txBody>
      </p:sp>
      <p:pic>
        <p:nvPicPr>
          <p:cNvPr id="12" name="Image 1" descr="/tmp/claude-0/-home-user-BrainWerks-/5a83b660-f2d0-5112-a440-0945fe0cbab1/scratchpad/deck/assets/wave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3291840"/>
            <a:ext cx="489204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73952" y="3886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70–90%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6473952" y="4709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really reads intention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hand vs. right hand, just from brain waves — that's a real Brain–Computer Interface in action.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IN YOUR POCKET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E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bank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5440680" cy="804672"/>
          </a:xfrm>
          <a:prstGeom prst="roundRect">
            <a:avLst>
              <a:gd name="adj" fmla="val 12500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96596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52928" y="196596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electrode = one column of readings.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0488" y="1874520"/>
            <a:ext cx="5440680" cy="80467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91656" y="196596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76488" y="196596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moment in time (250 per second at 250 Hz).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715768"/>
            <a:ext cx="5440680" cy="804672"/>
          </a:xfrm>
          <a:prstGeom prst="roundRect">
            <a:avLst>
              <a:gd name="adj" fmla="val 12500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" y="280720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 (EEG)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52928" y="28072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equal-length labeled clip = one trial.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0488" y="2715768"/>
            <a:ext cx="5440680" cy="80467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91656" y="2807208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 (training)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76488" y="28072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pass through all training clips.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557016"/>
            <a:ext cx="5440680" cy="804672"/>
          </a:xfrm>
          <a:prstGeom prst="roundRect">
            <a:avLst>
              <a:gd name="adj" fmla="val 12500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8096" y="364845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52928" y="364845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to predict (e.g. Left vs Right hand).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90488" y="3557016"/>
            <a:ext cx="5440680" cy="80467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91656" y="364845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and 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76488" y="364845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the brain clips; y = their labels/answers.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398264"/>
            <a:ext cx="5440680" cy="804672"/>
          </a:xfrm>
          <a:prstGeom prst="roundRect">
            <a:avLst>
              <a:gd name="adj" fmla="val 12500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8096" y="448970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52928" y="4489704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brain rhythms; remove drift and noise.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90488" y="4398264"/>
            <a:ext cx="5440680" cy="80467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91656" y="4489704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(.fit)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76488" y="4489704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examples so the model improves.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239512"/>
            <a:ext cx="5440680" cy="804672"/>
          </a:xfrm>
          <a:prstGeom prst="roundRect">
            <a:avLst>
              <a:gd name="adj" fmla="val 12500"/>
            </a:avLst>
          </a:prstGeom>
          <a:solidFill>
            <a:srgbClr val="F2F3FA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8096" y="533095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52928" y="533095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clips used to fairly test the model.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90488" y="5239512"/>
            <a:ext cx="5440680" cy="80467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4F1"/>
            </a:solidFill>
            <a:prstDash val="solid"/>
          </a:ln>
          <a:effectLst>
            <a:outerShdw sx="100000" sy="100000" kx="0" ky="0" algn="bl" rotWithShape="0" blurRad="101600" dist="25400" dir="5400000">
              <a:srgbClr val="1A1636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91656" y="533095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A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76488" y="533095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correct on the validation clips.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41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rainWerks-/5a83b660-f2d0-5112-a440-0945fe0cbab1/scratchpad/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claude-0/-home-user-BrainWerks-/5a83b660-f2d0-5112-a440-0945fe0cbab1/scratchpad/deck/assets/wave_cyan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6035040"/>
            <a:ext cx="12188952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66928" y="640080"/>
            <a:ext cx="1005840" cy="1005840"/>
          </a:xfrm>
          <a:prstGeom prst="ellipse">
            <a:avLst/>
          </a:prstGeom>
          <a:solidFill>
            <a:srgbClr val="FB7185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5" name="Image 2" descr="/tmp/claude-0/-home-user-BrainWerks-/5a83b660-f2d0-5112-a440-0945fe0cbab1/scratchpad/deck/assets/play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5" y="911657"/>
            <a:ext cx="462686" cy="46268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55648" y="713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&amp; EXPLORE</a:t>
            </a:r>
            <a:endParaRPr lang="en-US" sz="1250" dirty="0"/>
          </a:p>
        </p:txBody>
      </p:sp>
      <p:sp>
        <p:nvSpPr>
          <p:cNvPr id="7" name="Text 2"/>
          <p:cNvSpPr/>
          <p:nvPr/>
        </p:nvSpPr>
        <p:spPr>
          <a:xfrm>
            <a:off x="1755648" y="969264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Videos &amp; resources</a:t>
            </a:r>
            <a:endParaRPr lang="en-US" sz="3400" dirty="0"/>
          </a:p>
        </p:txBody>
      </p:sp>
      <p:sp>
        <p:nvSpPr>
          <p:cNvPr id="8" name="Shape 3"/>
          <p:cNvSpPr/>
          <p:nvPr/>
        </p:nvSpPr>
        <p:spPr>
          <a:xfrm>
            <a:off x="566928" y="2148840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pic>
        <p:nvPicPr>
          <p:cNvPr id="9" name="Image 3" descr="/tmp/claude-0/-home-user-BrainWerks-/5a83b660-f2d0-5112-a440-0945fe0cbab1/scratchpad/deck/assets/youtu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276856"/>
            <a:ext cx="384048" cy="3108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80160" y="2148840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E9E6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ow do nerves work? — TED-Ed (5 min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do nerves work? — TED-Ed (5 min)</a:t>
            </a:r>
            <a:endParaRPr lang="en-US" sz="1250" dirty="0"/>
          </a:p>
        </p:txBody>
      </p:sp>
      <p:sp>
        <p:nvSpPr>
          <p:cNvPr id="11" name="Shape 5"/>
          <p:cNvSpPr/>
          <p:nvPr/>
        </p:nvSpPr>
        <p:spPr>
          <a:xfrm>
            <a:off x="566928" y="2807208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pic>
        <p:nvPicPr>
          <p:cNvPr id="12" name="Image 4" descr="/tmp/claude-0/-home-user-BrainWerks-/5a83b660-f2d0-5112-a440-0945fe0cbab1/scratchpad/deck/assets/youtu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935224"/>
            <a:ext cx="384048" cy="31089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80160" y="2807208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E9E6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2-Minute Neuroscience: EEG (2 min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2-Minute Neuroscience: EEG (2 min)</a:t>
            </a:r>
            <a:endParaRPr lang="en-US" sz="1250" dirty="0"/>
          </a:p>
        </p:txBody>
      </p:sp>
      <p:sp>
        <p:nvSpPr>
          <p:cNvPr id="14" name="Shape 7"/>
          <p:cNvSpPr/>
          <p:nvPr/>
        </p:nvSpPr>
        <p:spPr>
          <a:xfrm>
            <a:off x="566928" y="3465576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pic>
        <p:nvPicPr>
          <p:cNvPr id="15" name="Image 5" descr="/tmp/claude-0/-home-user-BrainWerks-/5a83b660-f2d0-5112-a440-0945fe0cbab1/scratchpad/deck/assets/youtub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593592"/>
            <a:ext cx="384048" cy="31089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80160" y="3465576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E9E6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A headset that reads your brainwaves — TED, Tan 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headset that reads your brainwaves — TED, Tan Le</a:t>
            </a:r>
            <a:endParaRPr lang="en-US" sz="1250" dirty="0"/>
          </a:p>
        </p:txBody>
      </p:sp>
      <p:sp>
        <p:nvSpPr>
          <p:cNvPr id="17" name="Shape 9"/>
          <p:cNvSpPr/>
          <p:nvPr/>
        </p:nvSpPr>
        <p:spPr>
          <a:xfrm>
            <a:off x="566928" y="41239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pic>
        <p:nvPicPr>
          <p:cNvPr id="18" name="Image 6" descr="/tmp/claude-0/-home-user-BrainWerks-/5a83b660-f2d0-5112-a440-0945fe0cbab1/scratchpad/deck/assets/youtub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251960"/>
            <a:ext cx="384048" cy="31089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280160" y="412394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E9E6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A new neurotech tool — TED, Conor Russomann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new neurotech tool — TED, Conor Russomanno</a:t>
            </a:r>
            <a:endParaRPr lang="en-US" sz="1250" dirty="0"/>
          </a:p>
        </p:txBody>
      </p:sp>
      <p:sp>
        <p:nvSpPr>
          <p:cNvPr id="20" name="Shape 11"/>
          <p:cNvSpPr/>
          <p:nvPr/>
        </p:nvSpPr>
        <p:spPr>
          <a:xfrm>
            <a:off x="566928" y="4782312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241A54"/>
          </a:solidFill>
          <a:ln w="12700">
            <a:solidFill>
              <a:srgbClr val="5B2A9D"/>
            </a:solidFill>
            <a:prstDash val="solid"/>
          </a:ln>
        </p:spPr>
      </p:sp>
      <p:pic>
        <p:nvPicPr>
          <p:cNvPr id="21" name="Image 7" descr="/tmp/claude-0/-home-user-BrainWerks-/5a83b660-f2d0-5112-a440-0945fe0cbab1/scratchpad/deck/assets/youtub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" y="4910328"/>
            <a:ext cx="384048" cy="31089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280160" y="4782312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E9E6F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Neural Networks in 5 minute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 Networks in 5 minutes</a:t>
            </a:r>
            <a:endParaRPr lang="en-US" sz="1250" dirty="0"/>
          </a:p>
        </p:txBody>
      </p:sp>
      <p:sp>
        <p:nvSpPr>
          <p:cNvPr id="23" name="Shape 13"/>
          <p:cNvSpPr/>
          <p:nvPr/>
        </p:nvSpPr>
        <p:spPr>
          <a:xfrm>
            <a:off x="7772400" y="2148840"/>
            <a:ext cx="3886200" cy="3611880"/>
          </a:xfrm>
          <a:prstGeom prst="roundRect">
            <a:avLst>
              <a:gd name="adj" fmla="val 2532"/>
            </a:avLst>
          </a:prstGeom>
          <a:solidFill>
            <a:srgbClr val="1B12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14"/>
          <p:cNvSpPr/>
          <p:nvPr/>
        </p:nvSpPr>
        <p:spPr>
          <a:xfrm>
            <a:off x="800100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deeper</a:t>
            </a:r>
            <a:endParaRPr lang="en-US" sz="1700" dirty="0"/>
          </a:p>
        </p:txBody>
      </p:sp>
      <p:sp>
        <p:nvSpPr>
          <p:cNvPr id="25" name="Text 15"/>
          <p:cNvSpPr/>
          <p:nvPr/>
        </p:nvSpPr>
        <p:spPr>
          <a:xfrm>
            <a:off x="8001000" y="2788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rgbClr val="D7D2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braindecode — docs &amp; tutorial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braindecode — docs &amp; tutorials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8001000" y="35021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rgbClr val="D7D2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Tutorial #1 pag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Tutorial #1 page</a:t>
            </a:r>
            <a:endParaRPr lang="en-US" sz="1250" dirty="0"/>
          </a:p>
        </p:txBody>
      </p:sp>
      <p:sp>
        <p:nvSpPr>
          <p:cNvPr id="27" name="Text 17"/>
          <p:cNvSpPr/>
          <p:nvPr/>
        </p:nvSpPr>
        <p:spPr>
          <a:xfrm>
            <a:off x="8001000" y="421538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rgbClr val="D7D2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MNE-Python (EEG toolkit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MNE-Python (EEG toolkit)</a:t>
            </a:r>
            <a:endParaRPr lang="en-US" sz="1250" dirty="0"/>
          </a:p>
        </p:txBody>
      </p:sp>
      <p:sp>
        <p:nvSpPr>
          <p:cNvPr id="28" name="Text 18"/>
          <p:cNvSpPr/>
          <p:nvPr/>
        </p:nvSpPr>
        <p:spPr>
          <a:xfrm>
            <a:off x="8001000" y="492861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u="sng" dirty="0">
                <a:solidFill>
                  <a:srgbClr val="D7D2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invalidUrl="" action="" tgtFrame="" tooltip="PyTorch (the AI engine)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› PyTorch (the AI engine)</a:t>
            </a:r>
            <a:endParaRPr lang="en-US" sz="1250" dirty="0"/>
          </a:p>
        </p:txBody>
      </p:sp>
      <p:sp>
        <p:nvSpPr>
          <p:cNvPr id="29" name="Text 19"/>
          <p:cNvSpPr/>
          <p:nvPr/>
        </p:nvSpPr>
        <p:spPr>
          <a:xfrm>
            <a:off x="566928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tap any blue title to open it.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413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BrainWerks-/5a83b660-f2d0-5112-a440-0945fe0cbab1/scratchpad/deck/assets/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tmp/claude-0/-home-user-BrainWerks-/5a83b660-f2d0-5112-a440-0945fe0cbab1/scratchpad/deck/assets/wave_cyan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4754880"/>
            <a:ext cx="12188952" cy="8686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66928" y="777240"/>
            <a:ext cx="1097280" cy="109728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76200" dist="25400" dir="5400000">
              <a:srgbClr val="1A1636">
                <a:alpha val="22000"/>
              </a:srgbClr>
            </a:outerShdw>
          </a:effectLst>
        </p:spPr>
      </p:sp>
      <p:pic>
        <p:nvPicPr>
          <p:cNvPr id="5" name="Image 2" descr="/tmp/claude-0/-home-user-BrainWerks-/5a83b660-f2d0-5112-a440-0945fe0cbab1/scratchpad/deck/assets/cap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073506"/>
            <a:ext cx="504749" cy="50474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66928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566928" y="233172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understand the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 data pipeline.</a:t>
            </a:r>
            <a:endParaRPr lang="en-US" sz="4200" dirty="0"/>
          </a:p>
        </p:txBody>
      </p:sp>
      <p:sp>
        <p:nvSpPr>
          <p:cNvPr id="8" name="Text 3"/>
          <p:cNvSpPr/>
          <p:nvPr/>
        </p:nvSpPr>
        <p:spPr>
          <a:xfrm>
            <a:off x="566928" y="420624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channels, time, trials, classes, epochs, training, and accuracy.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WHY data must be cleaned and reshaped before an AI can learn from it.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4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project is on GitHub — the code is ready when you are.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data, and the AI stops being magic. Welcome aboard. 🧠⚡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2026-08-07T19:51:22Z</dcterms:created>
  <dcterms:modified xsi:type="dcterms:W3CDTF">2026-08-07T19:51:22Z</dcterms:modified>
</cp:coreProperties>
</file>